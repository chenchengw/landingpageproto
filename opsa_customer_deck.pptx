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Helvetica Neue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iL9+vlT3+x9LCUrLP8izIoBMQLB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Chencheng Wu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HelveticaNeue-bold.fntdata"/><Relationship Id="rId21" Type="http://schemas.openxmlformats.org/officeDocument/2006/relationships/font" Target="fonts/HelveticaNeue-regular.fntdata"/><Relationship Id="rId24" Type="http://schemas.openxmlformats.org/officeDocument/2006/relationships/font" Target="fonts/HelveticaNeue-boldItalic.fntdata"/><Relationship Id="rId23" Type="http://schemas.openxmlformats.org/officeDocument/2006/relationships/font" Target="fonts/HelveticaNeue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2-27T16:44:45.492">
    <p:pos x="6000" y="0"/>
    <p:text>@ashish@opsa.ai made some small updates on customer to match investor deck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1MMeIeU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cbacdd6c32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g3cbacdd6c32_0_2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cbacdd6c3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cbacdd6c32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cbacdd6c32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cbacdd6c32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Slide0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457200" y="205199"/>
            <a:ext cx="8229241" cy="858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457200" y="1203480"/>
            <a:ext cx="8229241" cy="29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80035" lvl="0" marL="4572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810"/>
              <a:buChar char="●"/>
              <a:defRPr/>
            </a:lvl1pPr>
            <a:lvl2pPr indent="-314325" lvl="1" marL="9144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350"/>
              <a:buChar char="●"/>
              <a:defRPr/>
            </a:lvl2pPr>
            <a:lvl3pPr indent="-280035" lvl="2" marL="13716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810"/>
              <a:buChar char="●"/>
              <a:defRPr/>
            </a:lvl3pPr>
            <a:lvl4pPr indent="-314325" lvl="3" marL="18288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350"/>
              <a:buChar char="●"/>
              <a:defRPr/>
            </a:lvl4pPr>
            <a:lvl5pPr indent="-280035" lvl="4" marL="22860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810"/>
              <a:buChar char="●"/>
              <a:defRPr/>
            </a:lvl5pPr>
            <a:lvl6pPr indent="-280035" lvl="5" marL="27432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810"/>
              <a:buChar char="●"/>
              <a:defRPr/>
            </a:lvl6pPr>
            <a:lvl7pPr indent="-280035" lvl="6" marL="32004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810"/>
              <a:buChar char="●"/>
              <a:defRPr/>
            </a:lvl7pPr>
            <a:lvl8pPr indent="-228600" lvl="7" marL="36576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" name="Google Shape;12;p15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Slide0">
  <p:cSld name="MasterSlide0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cbacdd6c32_0_9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g3cbacdd6c32_0_9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g3cbacdd6c32_0_98"/>
          <p:cNvSpPr txBox="1"/>
          <p:nvPr>
            <p:ph idx="12" type="sldNum"/>
          </p:nvPr>
        </p:nvSpPr>
        <p:spPr>
          <a:xfrm>
            <a:off x="6553200" y="6356350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Char char="●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0039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0039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0039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0039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10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4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"/>
          <p:cNvSpPr/>
          <p:nvPr/>
        </p:nvSpPr>
        <p:spPr>
          <a:xfrm>
            <a:off x="7132499" y="-1097461"/>
            <a:ext cx="3200311" cy="3200671"/>
          </a:xfrm>
          <a:custGeom>
            <a:rect b="b" l="l" r="r" t="t"/>
            <a:pathLst>
              <a:path extrusionOk="0" h="19680" w="19680">
                <a:moveTo>
                  <a:pt x="16799" y="2878"/>
                </a:moveTo>
                <a:cubicBezTo>
                  <a:pt x="20640" y="6721"/>
                  <a:pt x="20640" y="12957"/>
                  <a:pt x="16799" y="16799"/>
                </a:cubicBezTo>
                <a:cubicBezTo>
                  <a:pt x="12956" y="20640"/>
                  <a:pt x="6722" y="20640"/>
                  <a:pt x="2879" y="16799"/>
                </a:cubicBezTo>
                <a:cubicBezTo>
                  <a:pt x="-960" y="12957"/>
                  <a:pt x="-960" y="6721"/>
                  <a:pt x="2879" y="2878"/>
                </a:cubicBezTo>
                <a:cubicBezTo>
                  <a:pt x="6722" y="-960"/>
                  <a:pt x="12956" y="-960"/>
                  <a:pt x="16799" y="2878"/>
                </a:cubicBezTo>
                <a:close/>
              </a:path>
            </a:pathLst>
          </a:custGeom>
          <a:solidFill>
            <a:srgbClr val="3A82F6">
              <a:alpha val="1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772579" y="3200579"/>
            <a:ext cx="1828711" cy="1828711"/>
          </a:xfrm>
          <a:custGeom>
            <a:rect b="b" l="l" r="r" t="t"/>
            <a:pathLst>
              <a:path extrusionOk="0" h="19681" w="19681">
                <a:moveTo>
                  <a:pt x="16801" y="2877"/>
                </a:moveTo>
                <a:cubicBezTo>
                  <a:pt x="20641" y="6720"/>
                  <a:pt x="20641" y="12958"/>
                  <a:pt x="16801" y="16801"/>
                </a:cubicBezTo>
                <a:cubicBezTo>
                  <a:pt x="12958" y="20641"/>
                  <a:pt x="6720" y="20641"/>
                  <a:pt x="2877" y="16801"/>
                </a:cubicBezTo>
                <a:cubicBezTo>
                  <a:pt x="-959" y="12958"/>
                  <a:pt x="-959" y="6720"/>
                  <a:pt x="2877" y="2877"/>
                </a:cubicBezTo>
                <a:cubicBezTo>
                  <a:pt x="6720" y="-959"/>
                  <a:pt x="12958" y="-959"/>
                  <a:pt x="16801" y="2877"/>
                </a:cubicBezTo>
                <a:close/>
              </a:path>
            </a:pathLst>
          </a:custGeom>
          <a:solidFill>
            <a:srgbClr val="CADCFC">
              <a:alpha val="7843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776519" y="1167120"/>
            <a:ext cx="7225201" cy="86470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Trebuchet MS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Opsa</a:t>
            </a:r>
            <a:endParaRPr/>
          </a:p>
        </p:txBody>
      </p:sp>
      <p:sp>
        <p:nvSpPr>
          <p:cNvPr id="26" name="Google Shape;26;p1"/>
          <p:cNvSpPr txBox="1"/>
          <p:nvPr/>
        </p:nvSpPr>
        <p:spPr>
          <a:xfrm>
            <a:off x="776519" y="2188799"/>
            <a:ext cx="6310801" cy="924570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Your Round-the-Clock Sales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Team That Never Stops Selling</a:t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731519" y="3383279"/>
            <a:ext cx="1097641" cy="55081"/>
          </a:xfrm>
          <a:prstGeom prst="rect">
            <a:avLst/>
          </a:prstGeom>
          <a:solidFill>
            <a:srgbClr val="3A82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776519" y="3745800"/>
            <a:ext cx="6310801" cy="279360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Unlock incremental revenue with Opsa's autonomous AI Sales Agent</a:t>
            </a:r>
            <a:endParaRPr/>
          </a:p>
        </p:txBody>
      </p:sp>
      <p:pic>
        <p:nvPicPr>
          <p:cNvPr descr="image2.png" id="29" name="Google Shape;2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2400" y="3657600"/>
            <a:ext cx="548641" cy="548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cbacdd6c32_0_203"/>
          <p:cNvSpPr txBox="1"/>
          <p:nvPr/>
        </p:nvSpPr>
        <p:spPr>
          <a:xfrm>
            <a:off x="548640" y="365760"/>
            <a:ext cx="8046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/>
          </a:p>
        </p:txBody>
      </p:sp>
      <p:sp>
        <p:nvSpPr>
          <p:cNvPr id="35" name="Google Shape;35;g3cbacdd6c32_0_203"/>
          <p:cNvSpPr/>
          <p:nvPr/>
        </p:nvSpPr>
        <p:spPr>
          <a:xfrm>
            <a:off x="4480560" y="1097280"/>
            <a:ext cx="18300" cy="32919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g3cbacdd6c32_0_203"/>
          <p:cNvSpPr txBox="1"/>
          <p:nvPr/>
        </p:nvSpPr>
        <p:spPr>
          <a:xfrm>
            <a:off x="548640" y="1097280"/>
            <a:ext cx="3657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rPr>
              <a:t>Key Challenges</a:t>
            </a:r>
            <a:endParaRPr/>
          </a:p>
        </p:txBody>
      </p:sp>
      <p:sp>
        <p:nvSpPr>
          <p:cNvPr id="37" name="Google Shape;37;g3cbacdd6c32_0_203"/>
          <p:cNvSpPr/>
          <p:nvPr/>
        </p:nvSpPr>
        <p:spPr>
          <a:xfrm>
            <a:off x="548640" y="1554480"/>
            <a:ext cx="3657600" cy="6402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g3cbacdd6c32_0_203"/>
          <p:cNvSpPr/>
          <p:nvPr/>
        </p:nvSpPr>
        <p:spPr>
          <a:xfrm>
            <a:off x="548640" y="1554480"/>
            <a:ext cx="45600" cy="640200"/>
          </a:xfrm>
          <a:prstGeom prst="rect">
            <a:avLst/>
          </a:prstGeom>
          <a:solidFill>
            <a:srgbClr val="3A82F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g3cbacdd6c32_0_203"/>
          <p:cNvSpPr txBox="1"/>
          <p:nvPr/>
        </p:nvSpPr>
        <p:spPr>
          <a:xfrm>
            <a:off x="777240" y="1627632"/>
            <a:ext cx="329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rPr>
              <a:t>Reps spend 60% of time on admin</a:t>
            </a:r>
            <a:endParaRPr/>
          </a:p>
        </p:txBody>
      </p:sp>
      <p:sp>
        <p:nvSpPr>
          <p:cNvPr id="40" name="Google Shape;40;g3cbacdd6c32_0_203"/>
          <p:cNvSpPr txBox="1"/>
          <p:nvPr/>
        </p:nvSpPr>
        <p:spPr>
          <a:xfrm>
            <a:off x="777240" y="1892807"/>
            <a:ext cx="3291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Quoting and re-keying orders, not selling</a:t>
            </a:r>
            <a:endParaRPr/>
          </a:p>
        </p:txBody>
      </p:sp>
      <p:sp>
        <p:nvSpPr>
          <p:cNvPr id="41" name="Google Shape;41;g3cbacdd6c32_0_203"/>
          <p:cNvSpPr/>
          <p:nvPr/>
        </p:nvSpPr>
        <p:spPr>
          <a:xfrm>
            <a:off x="548640" y="2286000"/>
            <a:ext cx="3657600" cy="6402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3cbacdd6c32_0_203"/>
          <p:cNvSpPr/>
          <p:nvPr/>
        </p:nvSpPr>
        <p:spPr>
          <a:xfrm>
            <a:off x="548640" y="2286000"/>
            <a:ext cx="45600" cy="640200"/>
          </a:xfrm>
          <a:prstGeom prst="rect">
            <a:avLst/>
          </a:prstGeom>
          <a:solidFill>
            <a:srgbClr val="3A82F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g3cbacdd6c32_0_203"/>
          <p:cNvSpPr txBox="1"/>
          <p:nvPr/>
        </p:nvSpPr>
        <p:spPr>
          <a:xfrm>
            <a:off x="777240" y="2359152"/>
            <a:ext cx="329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rPr>
              <a:t>Pricing lives in spreadsheets</a:t>
            </a:r>
            <a:endParaRPr/>
          </a:p>
        </p:txBody>
      </p:sp>
      <p:sp>
        <p:nvSpPr>
          <p:cNvPr id="44" name="Google Shape;44;g3cbacdd6c32_0_203"/>
          <p:cNvSpPr txBox="1"/>
          <p:nvPr/>
        </p:nvSpPr>
        <p:spPr>
          <a:xfrm>
            <a:off x="777240" y="2624328"/>
            <a:ext cx="3291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Inconsistent quotes. Margins leak.</a:t>
            </a:r>
            <a:endParaRPr/>
          </a:p>
        </p:txBody>
      </p:sp>
      <p:sp>
        <p:nvSpPr>
          <p:cNvPr id="45" name="Google Shape;45;g3cbacdd6c32_0_203"/>
          <p:cNvSpPr/>
          <p:nvPr/>
        </p:nvSpPr>
        <p:spPr>
          <a:xfrm>
            <a:off x="548640" y="3017520"/>
            <a:ext cx="3657600" cy="6402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g3cbacdd6c32_0_203"/>
          <p:cNvSpPr/>
          <p:nvPr/>
        </p:nvSpPr>
        <p:spPr>
          <a:xfrm>
            <a:off x="548640" y="3017520"/>
            <a:ext cx="45600" cy="640200"/>
          </a:xfrm>
          <a:prstGeom prst="rect">
            <a:avLst/>
          </a:prstGeom>
          <a:solidFill>
            <a:srgbClr val="3A82F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g3cbacdd6c32_0_203"/>
          <p:cNvSpPr txBox="1"/>
          <p:nvPr/>
        </p:nvSpPr>
        <p:spPr>
          <a:xfrm>
            <a:off x="777240" y="3090672"/>
            <a:ext cx="329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rPr>
              <a:t>Trade show leads die</a:t>
            </a:r>
            <a:endParaRPr/>
          </a:p>
        </p:txBody>
      </p:sp>
      <p:sp>
        <p:nvSpPr>
          <p:cNvPr id="48" name="Google Shape;48;g3cbacdd6c32_0_203"/>
          <p:cNvSpPr txBox="1"/>
          <p:nvPr/>
        </p:nvSpPr>
        <p:spPr>
          <a:xfrm>
            <a:off x="777240" y="3355848"/>
            <a:ext cx="3291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Most contacts never get a follow-up</a:t>
            </a:r>
            <a:endParaRPr/>
          </a:p>
        </p:txBody>
      </p:sp>
      <p:sp>
        <p:nvSpPr>
          <p:cNvPr id="49" name="Google Shape;49;g3cbacdd6c32_0_203"/>
          <p:cNvSpPr/>
          <p:nvPr/>
        </p:nvSpPr>
        <p:spPr>
          <a:xfrm>
            <a:off x="548640" y="3749039"/>
            <a:ext cx="3657600" cy="6402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g3cbacdd6c32_0_203"/>
          <p:cNvSpPr/>
          <p:nvPr/>
        </p:nvSpPr>
        <p:spPr>
          <a:xfrm>
            <a:off x="548640" y="3749039"/>
            <a:ext cx="45600" cy="640200"/>
          </a:xfrm>
          <a:prstGeom prst="rect">
            <a:avLst/>
          </a:prstGeom>
          <a:solidFill>
            <a:srgbClr val="3A82F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g3cbacdd6c32_0_203"/>
          <p:cNvSpPr txBox="1"/>
          <p:nvPr/>
        </p:nvSpPr>
        <p:spPr>
          <a:xfrm>
            <a:off x="777240" y="3822191"/>
            <a:ext cx="329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rPr>
              <a:t>Quote-to-order takes days</a:t>
            </a:r>
            <a:endParaRPr/>
          </a:p>
        </p:txBody>
      </p:sp>
      <p:sp>
        <p:nvSpPr>
          <p:cNvPr id="52" name="Google Shape;52;g3cbacdd6c32_0_203"/>
          <p:cNvSpPr txBox="1"/>
          <p:nvPr/>
        </p:nvSpPr>
        <p:spPr>
          <a:xfrm>
            <a:off x="777240" y="4087368"/>
            <a:ext cx="3291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Slower response = lost deals</a:t>
            </a:r>
            <a:endParaRPr/>
          </a:p>
        </p:txBody>
      </p:sp>
      <p:sp>
        <p:nvSpPr>
          <p:cNvPr id="53" name="Google Shape;53;g3cbacdd6c32_0_203"/>
          <p:cNvSpPr txBox="1"/>
          <p:nvPr/>
        </p:nvSpPr>
        <p:spPr>
          <a:xfrm>
            <a:off x="4846320" y="1097280"/>
            <a:ext cx="3840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rPr>
              <a:t>How Opsa Solves This</a:t>
            </a:r>
            <a:endParaRPr/>
          </a:p>
        </p:txBody>
      </p:sp>
      <p:sp>
        <p:nvSpPr>
          <p:cNvPr id="54" name="Google Shape;54;g3cbacdd6c32_0_203"/>
          <p:cNvSpPr/>
          <p:nvPr/>
        </p:nvSpPr>
        <p:spPr>
          <a:xfrm>
            <a:off x="4846320" y="1554480"/>
            <a:ext cx="3840600" cy="6402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cbacdd6c32_0_203"/>
          <p:cNvSpPr/>
          <p:nvPr/>
        </p:nvSpPr>
        <p:spPr>
          <a:xfrm>
            <a:off x="4846320" y="1554480"/>
            <a:ext cx="45600" cy="640200"/>
          </a:xfrm>
          <a:prstGeom prst="rect">
            <a:avLst/>
          </a:prstGeom>
          <a:solidFill>
            <a:srgbClr val="0FB98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g3cbacdd6c32_0_203"/>
          <p:cNvSpPr txBox="1"/>
          <p:nvPr/>
        </p:nvSpPr>
        <p:spPr>
          <a:xfrm>
            <a:off x="5074920" y="1627632"/>
            <a:ext cx="347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rPr>
              <a:t>Autopilot outbound — 24/7</a:t>
            </a:r>
            <a:endParaRPr/>
          </a:p>
        </p:txBody>
      </p:sp>
      <p:sp>
        <p:nvSpPr>
          <p:cNvPr id="57" name="Google Shape;57;g3cbacdd6c32_0_203"/>
          <p:cNvSpPr txBox="1"/>
          <p:nvPr/>
        </p:nvSpPr>
        <p:spPr>
          <a:xfrm>
            <a:off x="5074920" y="1892807"/>
            <a:ext cx="3474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AI prospects and engages around the clock</a:t>
            </a:r>
            <a:endParaRPr/>
          </a:p>
        </p:txBody>
      </p:sp>
      <p:sp>
        <p:nvSpPr>
          <p:cNvPr id="58" name="Google Shape;58;g3cbacdd6c32_0_203"/>
          <p:cNvSpPr/>
          <p:nvPr/>
        </p:nvSpPr>
        <p:spPr>
          <a:xfrm>
            <a:off x="4846320" y="2286000"/>
            <a:ext cx="3840600" cy="6402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cbacdd6c32_0_203"/>
          <p:cNvSpPr/>
          <p:nvPr/>
        </p:nvSpPr>
        <p:spPr>
          <a:xfrm>
            <a:off x="4846320" y="2286000"/>
            <a:ext cx="45600" cy="640200"/>
          </a:xfrm>
          <a:prstGeom prst="rect">
            <a:avLst/>
          </a:prstGeom>
          <a:solidFill>
            <a:srgbClr val="0FB98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3cbacdd6c32_0_203"/>
          <p:cNvSpPr txBox="1"/>
          <p:nvPr/>
        </p:nvSpPr>
        <p:spPr>
          <a:xfrm>
            <a:off x="5074920" y="2359152"/>
            <a:ext cx="347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rPr>
              <a:t>Personalized offers + auto follow-up</a:t>
            </a:r>
            <a:endParaRPr/>
          </a:p>
        </p:txBody>
      </p:sp>
      <p:sp>
        <p:nvSpPr>
          <p:cNvPr id="61" name="Google Shape;61;g3cbacdd6c32_0_203"/>
          <p:cNvSpPr txBox="1"/>
          <p:nvPr/>
        </p:nvSpPr>
        <p:spPr>
          <a:xfrm>
            <a:off x="5074920" y="2624328"/>
            <a:ext cx="3474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Right message, right buyer, right moment</a:t>
            </a:r>
            <a:endParaRPr/>
          </a:p>
        </p:txBody>
      </p:sp>
      <p:sp>
        <p:nvSpPr>
          <p:cNvPr id="62" name="Google Shape;62;g3cbacdd6c32_0_203"/>
          <p:cNvSpPr/>
          <p:nvPr/>
        </p:nvSpPr>
        <p:spPr>
          <a:xfrm>
            <a:off x="4846320" y="3017520"/>
            <a:ext cx="3840600" cy="6402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cbacdd6c32_0_203"/>
          <p:cNvSpPr/>
          <p:nvPr/>
        </p:nvSpPr>
        <p:spPr>
          <a:xfrm>
            <a:off x="4846320" y="3017520"/>
            <a:ext cx="45600" cy="640200"/>
          </a:xfrm>
          <a:prstGeom prst="rect">
            <a:avLst/>
          </a:prstGeom>
          <a:solidFill>
            <a:srgbClr val="0FB98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g3cbacdd6c32_0_203"/>
          <p:cNvSpPr txBox="1"/>
          <p:nvPr/>
        </p:nvSpPr>
        <p:spPr>
          <a:xfrm>
            <a:off x="5074920" y="3090672"/>
            <a:ext cx="347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rPr>
              <a:t>Smart deal routing by stage</a:t>
            </a:r>
            <a:endParaRPr/>
          </a:p>
        </p:txBody>
      </p:sp>
      <p:sp>
        <p:nvSpPr>
          <p:cNvPr id="65" name="Google Shape;65;g3cbacdd6c32_0_203"/>
          <p:cNvSpPr txBox="1"/>
          <p:nvPr/>
        </p:nvSpPr>
        <p:spPr>
          <a:xfrm>
            <a:off x="5074920" y="3355848"/>
            <a:ext cx="3474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Knows when to go autonomous vs. loop in your team</a:t>
            </a:r>
            <a:endParaRPr/>
          </a:p>
        </p:txBody>
      </p:sp>
      <p:sp>
        <p:nvSpPr>
          <p:cNvPr id="66" name="Google Shape;66;g3cbacdd6c32_0_203"/>
          <p:cNvSpPr/>
          <p:nvPr/>
        </p:nvSpPr>
        <p:spPr>
          <a:xfrm>
            <a:off x="4846320" y="3749039"/>
            <a:ext cx="3840600" cy="6402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cbacdd6c32_0_203"/>
          <p:cNvSpPr/>
          <p:nvPr/>
        </p:nvSpPr>
        <p:spPr>
          <a:xfrm>
            <a:off x="4846320" y="3749039"/>
            <a:ext cx="45600" cy="640200"/>
          </a:xfrm>
          <a:prstGeom prst="rect">
            <a:avLst/>
          </a:prstGeom>
          <a:solidFill>
            <a:srgbClr val="0FB98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3cbacdd6c32_0_203"/>
          <p:cNvSpPr txBox="1"/>
          <p:nvPr/>
        </p:nvSpPr>
        <p:spPr>
          <a:xfrm>
            <a:off x="5074920" y="3822191"/>
            <a:ext cx="347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rPr>
              <a:t>Converts conversations into orders</a:t>
            </a:r>
            <a:endParaRPr/>
          </a:p>
        </p:txBody>
      </p:sp>
      <p:sp>
        <p:nvSpPr>
          <p:cNvPr id="69" name="Google Shape;69;g3cbacdd6c32_0_203"/>
          <p:cNvSpPr txBox="1"/>
          <p:nvPr/>
        </p:nvSpPr>
        <p:spPr>
          <a:xfrm>
            <a:off x="5074920" y="4087368"/>
            <a:ext cx="3474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From first touch to closed deal, automated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 txBox="1"/>
          <p:nvPr/>
        </p:nvSpPr>
        <p:spPr>
          <a:xfrm>
            <a:off x="502199" y="251639"/>
            <a:ext cx="7225202" cy="55990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83A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rPr>
              <a:t>How Sales Agent Works</a:t>
            </a:r>
            <a:endParaRPr/>
          </a:p>
        </p:txBody>
      </p:sp>
      <p:sp>
        <p:nvSpPr>
          <p:cNvPr id="75" name="Google Shape;75;p3"/>
          <p:cNvSpPr txBox="1"/>
          <p:nvPr/>
        </p:nvSpPr>
        <p:spPr>
          <a:xfrm>
            <a:off x="502199" y="807479"/>
            <a:ext cx="7225202" cy="279360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From data to closed deals in 5 steps</a:t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457199" y="1463039"/>
            <a:ext cx="1535042" cy="23392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611999" y="1597320"/>
            <a:ext cx="3486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82F6"/>
              </a:buClr>
              <a:buSzPts val="1900"/>
              <a:buFont typeface="Trebuchet MS"/>
              <a:buNone/>
            </a:pPr>
            <a:r>
              <a:rPr b="1" i="0" lang="en-US" sz="1900" u="none" cap="none" strike="noStrike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932399" y="2010960"/>
            <a:ext cx="585631" cy="585271"/>
          </a:xfrm>
          <a:custGeom>
            <a:rect b="b" l="l" r="r" t="t"/>
            <a:pathLst>
              <a:path extrusionOk="0" h="19684" w="19685">
                <a:moveTo>
                  <a:pt x="16808" y="2869"/>
                </a:moveTo>
                <a:cubicBezTo>
                  <a:pt x="20644" y="6719"/>
                  <a:pt x="20644" y="12955"/>
                  <a:pt x="16808" y="16805"/>
                </a:cubicBezTo>
                <a:cubicBezTo>
                  <a:pt x="12948" y="20643"/>
                  <a:pt x="6728" y="20643"/>
                  <a:pt x="2868" y="16805"/>
                </a:cubicBezTo>
                <a:cubicBezTo>
                  <a:pt x="-956" y="12955"/>
                  <a:pt x="-956" y="6719"/>
                  <a:pt x="2868" y="2869"/>
                </a:cubicBezTo>
                <a:cubicBezTo>
                  <a:pt x="6728" y="-957"/>
                  <a:pt x="12948" y="-957"/>
                  <a:pt x="16808" y="2869"/>
                </a:cubicBezTo>
                <a:close/>
              </a:path>
            </a:pathLst>
          </a:custGeom>
          <a:solidFill>
            <a:srgbClr val="EBF3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3.png" id="79" name="Google Shape;7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600" y="2135520"/>
            <a:ext cx="329041" cy="32904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 txBox="1"/>
          <p:nvPr/>
        </p:nvSpPr>
        <p:spPr>
          <a:xfrm>
            <a:off x="611999" y="2800080"/>
            <a:ext cx="1225801" cy="22970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83A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rPr>
              <a:t>Connect Your Data</a:t>
            </a:r>
            <a:endParaRPr/>
          </a:p>
        </p:txBody>
      </p:sp>
      <p:sp>
        <p:nvSpPr>
          <p:cNvPr id="81" name="Google Shape;81;p3"/>
          <p:cNvSpPr txBox="1"/>
          <p:nvPr/>
        </p:nvSpPr>
        <p:spPr>
          <a:xfrm>
            <a:off x="611999" y="3183839"/>
            <a:ext cx="1225801" cy="321578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65468"/>
                </a:solidFill>
                <a:latin typeface="Calibri"/>
                <a:ea typeface="Calibri"/>
                <a:cs typeface="Calibri"/>
                <a:sym typeface="Calibri"/>
              </a:rPr>
              <a:t>ERP, leads, and inventory in one place.</a:t>
            </a:r>
            <a:endParaRPr/>
          </a:p>
        </p:txBody>
      </p:sp>
      <p:pic>
        <p:nvPicPr>
          <p:cNvPr descr="image4.png" id="82" name="Google Shape;8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28600" y="2376720"/>
            <a:ext cx="131761" cy="13176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3"/>
          <p:cNvSpPr/>
          <p:nvPr/>
        </p:nvSpPr>
        <p:spPr>
          <a:xfrm>
            <a:off x="2174760" y="1463039"/>
            <a:ext cx="1535041" cy="23392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2329199" y="1597320"/>
            <a:ext cx="3486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82F6"/>
              </a:buClr>
              <a:buSzPts val="1900"/>
              <a:buFont typeface="Trebuchet MS"/>
              <a:buNone/>
            </a:pPr>
            <a:r>
              <a:rPr b="1" i="0" lang="en-US" sz="1900" u="none" cap="none" strike="noStrike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2649600" y="2010960"/>
            <a:ext cx="585271" cy="585271"/>
          </a:xfrm>
          <a:custGeom>
            <a:rect b="b" l="l" r="r" t="t"/>
            <a:pathLst>
              <a:path extrusionOk="0" h="19684" w="19684">
                <a:moveTo>
                  <a:pt x="16805" y="2869"/>
                </a:moveTo>
                <a:cubicBezTo>
                  <a:pt x="20643" y="6719"/>
                  <a:pt x="20643" y="12955"/>
                  <a:pt x="16805" y="16805"/>
                </a:cubicBezTo>
                <a:cubicBezTo>
                  <a:pt x="12955" y="20643"/>
                  <a:pt x="6719" y="20643"/>
                  <a:pt x="2869" y="16805"/>
                </a:cubicBezTo>
                <a:cubicBezTo>
                  <a:pt x="-957" y="12955"/>
                  <a:pt x="-957" y="6719"/>
                  <a:pt x="2869" y="2869"/>
                </a:cubicBezTo>
                <a:cubicBezTo>
                  <a:pt x="6719" y="-957"/>
                  <a:pt x="12955" y="-957"/>
                  <a:pt x="16805" y="2869"/>
                </a:cubicBezTo>
                <a:close/>
              </a:path>
            </a:pathLst>
          </a:custGeom>
          <a:solidFill>
            <a:srgbClr val="EBF3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5.png" id="86" name="Google Shape;8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73800" y="2135520"/>
            <a:ext cx="329041" cy="32904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 txBox="1"/>
          <p:nvPr/>
        </p:nvSpPr>
        <p:spPr>
          <a:xfrm>
            <a:off x="2329199" y="2800080"/>
            <a:ext cx="1225801" cy="36940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83A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rPr>
              <a:t>Build Buyer Profiles</a:t>
            </a:r>
            <a:endParaRPr/>
          </a:p>
        </p:txBody>
      </p:sp>
      <p:sp>
        <p:nvSpPr>
          <p:cNvPr id="88" name="Google Shape;88;p3"/>
          <p:cNvSpPr txBox="1"/>
          <p:nvPr/>
        </p:nvSpPr>
        <p:spPr>
          <a:xfrm>
            <a:off x="2329199" y="3120120"/>
            <a:ext cx="1225801" cy="321577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65468"/>
                </a:solidFill>
                <a:latin typeface="Calibri"/>
                <a:ea typeface="Calibri"/>
                <a:cs typeface="Calibri"/>
                <a:sym typeface="Calibri"/>
              </a:rPr>
              <a:t>AI profiles every buyer account.</a:t>
            </a:r>
            <a:endParaRPr/>
          </a:p>
        </p:txBody>
      </p:sp>
      <p:pic>
        <p:nvPicPr>
          <p:cNvPr descr="image4.png" id="89" name="Google Shape;8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5800" y="2376720"/>
            <a:ext cx="131761" cy="13176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"/>
          <p:cNvSpPr/>
          <p:nvPr/>
        </p:nvSpPr>
        <p:spPr>
          <a:xfrm>
            <a:off x="3892320" y="1463039"/>
            <a:ext cx="1535041" cy="23392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4046759" y="1597680"/>
            <a:ext cx="3486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82F6"/>
              </a:buClr>
              <a:buSzPts val="1900"/>
              <a:buFont typeface="Trebuchet MS"/>
              <a:buNone/>
            </a:pPr>
            <a:r>
              <a:rPr b="1" i="0" lang="en-US" sz="1900" u="none" cap="none" strike="noStrike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4367160" y="2010960"/>
            <a:ext cx="585271" cy="585271"/>
          </a:xfrm>
          <a:custGeom>
            <a:rect b="b" l="l" r="r" t="t"/>
            <a:pathLst>
              <a:path extrusionOk="0" h="19684" w="19684">
                <a:moveTo>
                  <a:pt x="16805" y="2869"/>
                </a:moveTo>
                <a:cubicBezTo>
                  <a:pt x="20643" y="6719"/>
                  <a:pt x="20643" y="12955"/>
                  <a:pt x="16805" y="16805"/>
                </a:cubicBezTo>
                <a:cubicBezTo>
                  <a:pt x="12955" y="20643"/>
                  <a:pt x="6719" y="20643"/>
                  <a:pt x="2869" y="16805"/>
                </a:cubicBezTo>
                <a:cubicBezTo>
                  <a:pt x="-957" y="12955"/>
                  <a:pt x="-957" y="6719"/>
                  <a:pt x="2869" y="2869"/>
                </a:cubicBezTo>
                <a:cubicBezTo>
                  <a:pt x="6719" y="-957"/>
                  <a:pt x="12955" y="-957"/>
                  <a:pt x="16805" y="2869"/>
                </a:cubicBezTo>
                <a:close/>
              </a:path>
            </a:pathLst>
          </a:custGeom>
          <a:solidFill>
            <a:srgbClr val="EBF3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4046759" y="2730239"/>
            <a:ext cx="1225442" cy="36940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83A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rPr>
              <a:t>Launch Smart Outreach</a:t>
            </a:r>
            <a:endParaRPr/>
          </a:p>
        </p:txBody>
      </p:sp>
      <p:sp>
        <p:nvSpPr>
          <p:cNvPr id="94" name="Google Shape;94;p3"/>
          <p:cNvSpPr txBox="1"/>
          <p:nvPr/>
        </p:nvSpPr>
        <p:spPr>
          <a:xfrm>
            <a:off x="4046759" y="3120120"/>
            <a:ext cx="1225442" cy="321577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65468"/>
                </a:solidFill>
                <a:latin typeface="Calibri"/>
                <a:ea typeface="Calibri"/>
                <a:cs typeface="Calibri"/>
                <a:sym typeface="Calibri"/>
              </a:rPr>
              <a:t>Right buyer, right offer, right time.</a:t>
            </a:r>
            <a:endParaRPr/>
          </a:p>
        </p:txBody>
      </p:sp>
      <p:pic>
        <p:nvPicPr>
          <p:cNvPr descr="image4.png" id="95" name="Google Shape;9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3359" y="2376720"/>
            <a:ext cx="131761" cy="13176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"/>
          <p:cNvSpPr/>
          <p:nvPr/>
        </p:nvSpPr>
        <p:spPr>
          <a:xfrm>
            <a:off x="5609519" y="1463039"/>
            <a:ext cx="1535042" cy="23392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5764319" y="1597320"/>
            <a:ext cx="3486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82F6"/>
              </a:buClr>
              <a:buSzPts val="1900"/>
              <a:buFont typeface="Trebuchet MS"/>
              <a:buNone/>
            </a:pPr>
            <a:r>
              <a:rPr b="1" i="0" lang="en-US" sz="1900" u="none" cap="none" strike="noStrike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6084720" y="2010960"/>
            <a:ext cx="585271" cy="585271"/>
          </a:xfrm>
          <a:custGeom>
            <a:rect b="b" l="l" r="r" t="t"/>
            <a:pathLst>
              <a:path extrusionOk="0" h="19684" w="19684">
                <a:moveTo>
                  <a:pt x="16805" y="2869"/>
                </a:moveTo>
                <a:cubicBezTo>
                  <a:pt x="20643" y="6719"/>
                  <a:pt x="20643" y="12955"/>
                  <a:pt x="16805" y="16805"/>
                </a:cubicBezTo>
                <a:cubicBezTo>
                  <a:pt x="12955" y="20643"/>
                  <a:pt x="6719" y="20643"/>
                  <a:pt x="2869" y="16805"/>
                </a:cubicBezTo>
                <a:cubicBezTo>
                  <a:pt x="-957" y="12955"/>
                  <a:pt x="-957" y="6719"/>
                  <a:pt x="2869" y="2869"/>
                </a:cubicBezTo>
                <a:cubicBezTo>
                  <a:pt x="6719" y="-957"/>
                  <a:pt x="12955" y="-957"/>
                  <a:pt x="16805" y="2869"/>
                </a:cubicBezTo>
                <a:close/>
              </a:path>
            </a:pathLst>
          </a:custGeom>
          <a:solidFill>
            <a:srgbClr val="EBF3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6.png" id="99" name="Google Shape;9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08919" y="2135520"/>
            <a:ext cx="329041" cy="32904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 txBox="1"/>
          <p:nvPr/>
        </p:nvSpPr>
        <p:spPr>
          <a:xfrm>
            <a:off x="5764319" y="2800080"/>
            <a:ext cx="1225801" cy="22970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83A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rPr>
              <a:t>Handle Replies</a:t>
            </a:r>
            <a:endParaRPr/>
          </a:p>
        </p:txBody>
      </p:sp>
      <p:sp>
        <p:nvSpPr>
          <p:cNvPr id="101" name="Google Shape;101;p3"/>
          <p:cNvSpPr txBox="1"/>
          <p:nvPr/>
        </p:nvSpPr>
        <p:spPr>
          <a:xfrm>
            <a:off x="5764319" y="3120120"/>
            <a:ext cx="1225801" cy="321577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65468"/>
                </a:solidFill>
                <a:latin typeface="Calibri"/>
                <a:ea typeface="Calibri"/>
                <a:cs typeface="Calibri"/>
                <a:sym typeface="Calibri"/>
              </a:rPr>
              <a:t>AI responds; flags your team when ready.</a:t>
            </a:r>
            <a:endParaRPr/>
          </a:p>
        </p:txBody>
      </p:sp>
      <p:pic>
        <p:nvPicPr>
          <p:cNvPr descr="image4.png" id="102" name="Google Shape;10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3560" y="2376720"/>
            <a:ext cx="131761" cy="13176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/>
          <p:nvPr/>
        </p:nvSpPr>
        <p:spPr>
          <a:xfrm>
            <a:off x="7294319" y="1463039"/>
            <a:ext cx="1535041" cy="23392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7438320" y="1597320"/>
            <a:ext cx="3486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82F6"/>
              </a:buClr>
              <a:buSzPts val="1900"/>
              <a:buFont typeface="Trebuchet MS"/>
              <a:buNone/>
            </a:pPr>
            <a:r>
              <a:rPr b="1" i="0" lang="en-US" sz="1900" u="none" cap="none" strike="noStrike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7758720" y="2010960"/>
            <a:ext cx="585271" cy="585271"/>
          </a:xfrm>
          <a:custGeom>
            <a:rect b="b" l="l" r="r" t="t"/>
            <a:pathLst>
              <a:path extrusionOk="0" h="19684" w="19684">
                <a:moveTo>
                  <a:pt x="16805" y="2869"/>
                </a:moveTo>
                <a:cubicBezTo>
                  <a:pt x="20643" y="6719"/>
                  <a:pt x="20643" y="12955"/>
                  <a:pt x="16805" y="16805"/>
                </a:cubicBezTo>
                <a:cubicBezTo>
                  <a:pt x="12955" y="20643"/>
                  <a:pt x="6719" y="20643"/>
                  <a:pt x="2869" y="16805"/>
                </a:cubicBezTo>
                <a:cubicBezTo>
                  <a:pt x="-957" y="12955"/>
                  <a:pt x="-957" y="6719"/>
                  <a:pt x="2869" y="2869"/>
                </a:cubicBezTo>
                <a:cubicBezTo>
                  <a:pt x="6719" y="-957"/>
                  <a:pt x="12955" y="-957"/>
                  <a:pt x="16805" y="2869"/>
                </a:cubicBezTo>
                <a:close/>
              </a:path>
            </a:pathLst>
          </a:custGeom>
          <a:solidFill>
            <a:srgbClr val="EBF3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7438320" y="2800080"/>
            <a:ext cx="1225801" cy="22970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83A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rPr>
              <a:t>Close the Deal</a:t>
            </a:r>
            <a:endParaRPr/>
          </a:p>
        </p:txBody>
      </p:sp>
      <p:sp>
        <p:nvSpPr>
          <p:cNvPr id="107" name="Google Shape;107;p3"/>
          <p:cNvSpPr txBox="1"/>
          <p:nvPr/>
        </p:nvSpPr>
        <p:spPr>
          <a:xfrm>
            <a:off x="7438320" y="3120120"/>
            <a:ext cx="1225801" cy="321577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65468"/>
                </a:solidFill>
                <a:latin typeface="Calibri"/>
                <a:ea typeface="Calibri"/>
                <a:cs typeface="Calibri"/>
                <a:sym typeface="Calibri"/>
              </a:rPr>
              <a:t>Quotes sent, orders confirmed, team notified.</a:t>
            </a:r>
            <a:endParaRPr/>
          </a:p>
        </p:txBody>
      </p:sp>
      <p:pic>
        <p:nvPicPr>
          <p:cNvPr descr="image7.png" id="108" name="Google Shape;108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86879" y="2139120"/>
            <a:ext cx="329041" cy="3290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8.png" id="109" name="Google Shape;109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37360" y="2098080"/>
            <a:ext cx="411481" cy="411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7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/>
        </p:nvSpPr>
        <p:spPr>
          <a:xfrm>
            <a:off x="456479" y="155916"/>
            <a:ext cx="82311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646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92646"/>
                </a:solidFill>
                <a:latin typeface="Calibri"/>
                <a:ea typeface="Calibri"/>
                <a:cs typeface="Calibri"/>
                <a:sym typeface="Calibri"/>
              </a:rPr>
              <a:t>Buyer </a:t>
            </a:r>
            <a:r>
              <a:rPr b="1" i="0" lang="en-US" sz="3200" u="none" cap="none" strike="noStrike">
                <a:solidFill>
                  <a:srgbClr val="192646"/>
                </a:solidFill>
                <a:latin typeface="Calibri"/>
                <a:ea typeface="Calibri"/>
                <a:cs typeface="Calibri"/>
                <a:sym typeface="Calibri"/>
              </a:rPr>
              <a:t>Intelligence </a:t>
            </a:r>
            <a:endParaRPr/>
          </a:p>
        </p:txBody>
      </p:sp>
      <p:sp>
        <p:nvSpPr>
          <p:cNvPr id="115" name="Google Shape;115;p4"/>
          <p:cNvSpPr txBox="1"/>
          <p:nvPr/>
        </p:nvSpPr>
        <p:spPr>
          <a:xfrm>
            <a:off x="502199" y="630000"/>
            <a:ext cx="81396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8"/>
              </a:buClr>
              <a:buSzPts val="1400"/>
              <a:buFont typeface="Calibri"/>
              <a:buNone/>
            </a:pPr>
            <a:r>
              <a:rPr lang="en-US">
                <a:solidFill>
                  <a:srgbClr val="465468"/>
                </a:solidFill>
                <a:latin typeface="Calibri"/>
                <a:ea typeface="Calibri"/>
                <a:cs typeface="Calibri"/>
                <a:sym typeface="Calibri"/>
              </a:rPr>
              <a:t>AI-empowered</a:t>
            </a:r>
            <a:r>
              <a:rPr b="0" i="0" lang="en-US" sz="1400" u="none" cap="none" strike="noStrike">
                <a:solidFill>
                  <a:srgbClr val="465468"/>
                </a:solidFill>
                <a:latin typeface="Calibri"/>
                <a:ea typeface="Calibri"/>
                <a:cs typeface="Calibri"/>
                <a:sym typeface="Calibri"/>
              </a:rPr>
              <a:t> intelligence for wholesale B2B — built from your data, not guesswork</a:t>
            </a:r>
            <a:endParaRPr/>
          </a:p>
        </p:txBody>
      </p:sp>
      <p:sp>
        <p:nvSpPr>
          <p:cNvPr id="116" name="Google Shape;116;p4"/>
          <p:cNvSpPr txBox="1"/>
          <p:nvPr/>
        </p:nvSpPr>
        <p:spPr>
          <a:xfrm>
            <a:off x="445000" y="1016567"/>
            <a:ext cx="2010000" cy="2468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4975" lIns="44975" spcFirstLastPara="1" rIns="44975" wrap="square" tIns="449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C9488"/>
                </a:solidFill>
                <a:latin typeface="Calibri"/>
                <a:ea typeface="Calibri"/>
                <a:cs typeface="Calibri"/>
                <a:sym typeface="Calibri"/>
              </a:rPr>
              <a:t>DATA INPUTS</a:t>
            </a:r>
            <a:endParaRPr/>
          </a:p>
        </p:txBody>
      </p:sp>
      <p:grpSp>
        <p:nvGrpSpPr>
          <p:cNvPr id="117" name="Google Shape;117;p4"/>
          <p:cNvGrpSpPr/>
          <p:nvPr/>
        </p:nvGrpSpPr>
        <p:grpSpPr>
          <a:xfrm>
            <a:off x="400000" y="1330000"/>
            <a:ext cx="2100001" cy="680002"/>
            <a:chOff x="0" y="0"/>
            <a:chExt cx="2100000" cy="680001"/>
          </a:xfrm>
        </p:grpSpPr>
        <p:sp>
          <p:nvSpPr>
            <p:cNvPr id="118" name="Google Shape;118;p4"/>
            <p:cNvSpPr/>
            <p:nvPr/>
          </p:nvSpPr>
          <p:spPr>
            <a:xfrm>
              <a:off x="0" y="0"/>
              <a:ext cx="2100000" cy="680001"/>
            </a:xfrm>
            <a:prstGeom prst="roundRect">
              <a:avLst>
                <a:gd fmla="val 20000" name="adj"/>
              </a:avLst>
            </a:prstGeom>
            <a:solidFill>
              <a:srgbClr val="1D266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4"/>
            <p:cNvSpPr txBox="1"/>
            <p:nvPr/>
          </p:nvSpPr>
          <p:spPr>
            <a:xfrm>
              <a:off x="129833" y="65019"/>
              <a:ext cx="1840334" cy="5499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975" lIns="89975" spcFirstLastPara="1" rIns="89975" wrap="square" tIns="899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ERP &amp; Transaction History</a:t>
              </a:r>
              <a:endParaRPr/>
            </a:p>
          </p:txBody>
        </p:sp>
      </p:grpSp>
      <p:grpSp>
        <p:nvGrpSpPr>
          <p:cNvPr id="120" name="Google Shape;120;p4"/>
          <p:cNvGrpSpPr/>
          <p:nvPr/>
        </p:nvGrpSpPr>
        <p:grpSpPr>
          <a:xfrm>
            <a:off x="400000" y="2110000"/>
            <a:ext cx="2100001" cy="680002"/>
            <a:chOff x="0" y="0"/>
            <a:chExt cx="2100000" cy="680001"/>
          </a:xfrm>
        </p:grpSpPr>
        <p:sp>
          <p:nvSpPr>
            <p:cNvPr id="121" name="Google Shape;121;p4"/>
            <p:cNvSpPr/>
            <p:nvPr/>
          </p:nvSpPr>
          <p:spPr>
            <a:xfrm>
              <a:off x="0" y="0"/>
              <a:ext cx="2100000" cy="680001"/>
            </a:xfrm>
            <a:prstGeom prst="roundRect">
              <a:avLst>
                <a:gd fmla="val 20000" name="adj"/>
              </a:avLst>
            </a:prstGeom>
            <a:solidFill>
              <a:srgbClr val="1D266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4"/>
            <p:cNvSpPr txBox="1"/>
            <p:nvPr/>
          </p:nvSpPr>
          <p:spPr>
            <a:xfrm>
              <a:off x="129833" y="166619"/>
              <a:ext cx="1840334" cy="3467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975" lIns="89975" spcFirstLastPara="1" rIns="89975" wrap="square" tIns="899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Quote &amp; Order Activity</a:t>
              </a:r>
              <a:endParaRPr/>
            </a:p>
          </p:txBody>
        </p:sp>
      </p:grpSp>
      <p:grpSp>
        <p:nvGrpSpPr>
          <p:cNvPr id="123" name="Google Shape;123;p4"/>
          <p:cNvGrpSpPr/>
          <p:nvPr/>
        </p:nvGrpSpPr>
        <p:grpSpPr>
          <a:xfrm>
            <a:off x="400000" y="2889999"/>
            <a:ext cx="2100001" cy="680002"/>
            <a:chOff x="0" y="0"/>
            <a:chExt cx="2100000" cy="680001"/>
          </a:xfrm>
        </p:grpSpPr>
        <p:sp>
          <p:nvSpPr>
            <p:cNvPr id="124" name="Google Shape;124;p4"/>
            <p:cNvSpPr/>
            <p:nvPr/>
          </p:nvSpPr>
          <p:spPr>
            <a:xfrm>
              <a:off x="0" y="0"/>
              <a:ext cx="2100000" cy="680001"/>
            </a:xfrm>
            <a:prstGeom prst="roundRect">
              <a:avLst>
                <a:gd fmla="val 20000" name="adj"/>
              </a:avLst>
            </a:prstGeom>
            <a:solidFill>
              <a:srgbClr val="1D266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4"/>
            <p:cNvSpPr txBox="1"/>
            <p:nvPr/>
          </p:nvSpPr>
          <p:spPr>
            <a:xfrm>
              <a:off x="129833" y="65019"/>
              <a:ext cx="1840334" cy="5499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975" lIns="89975" spcFirstLastPara="1" rIns="89975" wrap="square" tIns="899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Opsa Outreach Interactions</a:t>
              </a:r>
              <a:endParaRPr/>
            </a:p>
          </p:txBody>
        </p:sp>
      </p:grpSp>
      <p:sp>
        <p:nvSpPr>
          <p:cNvPr id="126" name="Google Shape;126;p4"/>
          <p:cNvSpPr/>
          <p:nvPr/>
        </p:nvSpPr>
        <p:spPr>
          <a:xfrm>
            <a:off x="2520000" y="1629999"/>
            <a:ext cx="700001" cy="60001"/>
          </a:xfrm>
          <a:prstGeom prst="rect">
            <a:avLst/>
          </a:prstGeom>
          <a:solidFill>
            <a:srgbClr val="0C948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2520000" y="2409999"/>
            <a:ext cx="700001" cy="60001"/>
          </a:xfrm>
          <a:prstGeom prst="rect">
            <a:avLst/>
          </a:prstGeom>
          <a:solidFill>
            <a:srgbClr val="0C948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2520000" y="3190000"/>
            <a:ext cx="700001" cy="60001"/>
          </a:xfrm>
          <a:prstGeom prst="rect">
            <a:avLst/>
          </a:prstGeom>
          <a:solidFill>
            <a:srgbClr val="0C948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9" name="Google Shape;129;p4"/>
          <p:cNvGrpSpPr/>
          <p:nvPr/>
        </p:nvGrpSpPr>
        <p:grpSpPr>
          <a:xfrm>
            <a:off x="3219998" y="1649999"/>
            <a:ext cx="2200003" cy="1580003"/>
            <a:chOff x="-1" y="-1"/>
            <a:chExt cx="2200002" cy="1580002"/>
          </a:xfrm>
        </p:grpSpPr>
        <p:sp>
          <p:nvSpPr>
            <p:cNvPr id="130" name="Google Shape;130;p4"/>
            <p:cNvSpPr/>
            <p:nvPr/>
          </p:nvSpPr>
          <p:spPr>
            <a:xfrm>
              <a:off x="-1" y="-1"/>
              <a:ext cx="2200002" cy="1580002"/>
            </a:xfrm>
            <a:prstGeom prst="ellipse">
              <a:avLst/>
            </a:prstGeom>
            <a:solidFill>
              <a:srgbClr val="0C9488"/>
            </a:solidFill>
            <a:ln cap="flat" cmpd="sng" w="388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431622" y="372516"/>
              <a:ext cx="1336756" cy="8349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975" lIns="89975" spcFirstLastPara="1" rIns="89975" wrap="square" tIns="899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1FAF6"/>
                </a:buClr>
                <a:buSzPts val="1000"/>
                <a:buFont typeface="Calibri"/>
                <a:buNone/>
              </a:pPr>
              <a:r>
                <a:rPr b="1" i="0" lang="en-US" sz="1000" u="none" cap="none" strike="noStrike">
                  <a:solidFill>
                    <a:srgbClr val="D1FAF6"/>
                  </a:solidFill>
                  <a:latin typeface="Calibri"/>
                  <a:ea typeface="Calibri"/>
                  <a:cs typeface="Calibri"/>
                  <a:sym typeface="Calibri"/>
                </a:rPr>
                <a:t>BUYER PROFILE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00"/>
                <a:buFont typeface="Calibri"/>
                <a:buNone/>
              </a:pPr>
              <a:r>
                <a:rPr b="1" i="0" lang="en-US" sz="2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360°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1FAF6"/>
                </a:buClr>
                <a:buSzPts val="1100"/>
                <a:buFont typeface="Calibri"/>
                <a:buNone/>
              </a:pPr>
              <a:r>
                <a:rPr b="0" i="0" lang="en-US" sz="1100" u="none" cap="none" strike="noStrike">
                  <a:solidFill>
                    <a:srgbClr val="D1FAF6"/>
                  </a:solidFill>
                  <a:latin typeface="Calibri"/>
                  <a:ea typeface="Calibri"/>
                  <a:cs typeface="Calibri"/>
                  <a:sym typeface="Calibri"/>
                </a:rPr>
                <a:t>Buyer View</a:t>
              </a:r>
              <a:endParaRPr/>
            </a:p>
          </p:txBody>
        </p:sp>
      </p:grpSp>
      <p:sp>
        <p:nvSpPr>
          <p:cNvPr id="132" name="Google Shape;132;p4"/>
          <p:cNvSpPr/>
          <p:nvPr/>
        </p:nvSpPr>
        <p:spPr>
          <a:xfrm>
            <a:off x="5440000" y="2409999"/>
            <a:ext cx="700001" cy="60001"/>
          </a:xfrm>
          <a:prstGeom prst="rect">
            <a:avLst/>
          </a:prstGeom>
          <a:solidFill>
            <a:srgbClr val="0C948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6195000" y="1016567"/>
            <a:ext cx="2360001" cy="2468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4975" lIns="44975" spcFirstLastPara="1" rIns="44975" wrap="square" tIns="449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C9488"/>
                </a:solidFill>
                <a:latin typeface="Calibri"/>
                <a:ea typeface="Calibri"/>
                <a:cs typeface="Calibri"/>
                <a:sym typeface="Calibri"/>
              </a:rPr>
              <a:t>PROFILE SIGNALS</a:t>
            </a:r>
            <a:endParaRPr/>
          </a:p>
        </p:txBody>
      </p:sp>
      <p:grpSp>
        <p:nvGrpSpPr>
          <p:cNvPr id="134" name="Google Shape;134;p4"/>
          <p:cNvGrpSpPr/>
          <p:nvPr/>
        </p:nvGrpSpPr>
        <p:grpSpPr>
          <a:xfrm>
            <a:off x="6150000" y="1330000"/>
            <a:ext cx="2450002" cy="430002"/>
            <a:chOff x="0" y="0"/>
            <a:chExt cx="2450001" cy="430001"/>
          </a:xfrm>
        </p:grpSpPr>
        <p:sp>
          <p:nvSpPr>
            <p:cNvPr id="135" name="Google Shape;135;p4"/>
            <p:cNvSpPr/>
            <p:nvPr/>
          </p:nvSpPr>
          <p:spPr>
            <a:xfrm>
              <a:off x="0" y="0"/>
              <a:ext cx="2450001" cy="430001"/>
            </a:xfrm>
            <a:prstGeom prst="roundRect">
              <a:avLst>
                <a:gd fmla="val 25000" name="adj"/>
              </a:avLst>
            </a:prstGeom>
            <a:solidFill>
              <a:srgbClr val="FFFFFF"/>
            </a:solidFill>
            <a:ln cap="flat" cmpd="sng" w="19425">
              <a:solidFill>
                <a:srgbClr val="0C94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4"/>
            <p:cNvSpPr txBox="1"/>
            <p:nvPr/>
          </p:nvSpPr>
          <p:spPr>
            <a:xfrm>
              <a:off x="161206" y="71619"/>
              <a:ext cx="2127588" cy="2867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000" lIns="60000" spcFirstLastPara="1" rIns="60000" wrap="square" tIns="60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9488"/>
                </a:buClr>
                <a:buSzPts val="900"/>
                <a:buFont typeface="Calibri"/>
                <a:buNone/>
              </a:pPr>
              <a:r>
                <a:rPr b="0" i="0" lang="en-US" sz="900" u="none" cap="none" strike="noStrike">
                  <a:solidFill>
                    <a:srgbClr val="0C9488"/>
                  </a:solidFill>
                  <a:latin typeface="Calibri"/>
                  <a:ea typeface="Calibri"/>
                  <a:cs typeface="Calibri"/>
                  <a:sym typeface="Calibri"/>
                </a:rPr>
                <a:t>⬤  </a:t>
              </a:r>
              <a:r>
                <a:rPr b="1" i="0" lang="en-US" sz="1300" u="none" cap="none" strike="noStrike">
                  <a:solidFill>
                    <a:srgbClr val="1D283A"/>
                  </a:solidFill>
                  <a:latin typeface="Calibri"/>
                  <a:ea typeface="Calibri"/>
                  <a:cs typeface="Calibri"/>
                  <a:sym typeface="Calibri"/>
                </a:rPr>
                <a:t>Brand Affinity</a:t>
              </a:r>
              <a:endParaRPr/>
            </a:p>
          </p:txBody>
        </p:sp>
      </p:grpSp>
      <p:grpSp>
        <p:nvGrpSpPr>
          <p:cNvPr id="137" name="Google Shape;137;p4"/>
          <p:cNvGrpSpPr/>
          <p:nvPr/>
        </p:nvGrpSpPr>
        <p:grpSpPr>
          <a:xfrm>
            <a:off x="6150000" y="1809999"/>
            <a:ext cx="2450002" cy="430002"/>
            <a:chOff x="0" y="0"/>
            <a:chExt cx="2450001" cy="430001"/>
          </a:xfrm>
        </p:grpSpPr>
        <p:sp>
          <p:nvSpPr>
            <p:cNvPr id="138" name="Google Shape;138;p4"/>
            <p:cNvSpPr/>
            <p:nvPr/>
          </p:nvSpPr>
          <p:spPr>
            <a:xfrm>
              <a:off x="0" y="0"/>
              <a:ext cx="2450001" cy="430001"/>
            </a:xfrm>
            <a:prstGeom prst="roundRect">
              <a:avLst>
                <a:gd fmla="val 25000" name="adj"/>
              </a:avLst>
            </a:prstGeom>
            <a:solidFill>
              <a:srgbClr val="FFFFFF"/>
            </a:solidFill>
            <a:ln cap="flat" cmpd="sng" w="19425">
              <a:solidFill>
                <a:srgbClr val="0C94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4"/>
            <p:cNvSpPr txBox="1"/>
            <p:nvPr/>
          </p:nvSpPr>
          <p:spPr>
            <a:xfrm>
              <a:off x="161206" y="71619"/>
              <a:ext cx="2127588" cy="2867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000" lIns="60000" spcFirstLastPara="1" rIns="60000" wrap="square" tIns="60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9488"/>
                </a:buClr>
                <a:buSzPts val="900"/>
                <a:buFont typeface="Calibri"/>
                <a:buNone/>
              </a:pPr>
              <a:r>
                <a:rPr b="0" i="0" lang="en-US" sz="900" u="none" cap="none" strike="noStrike">
                  <a:solidFill>
                    <a:srgbClr val="0C9488"/>
                  </a:solidFill>
                  <a:latin typeface="Calibri"/>
                  <a:ea typeface="Calibri"/>
                  <a:cs typeface="Calibri"/>
                  <a:sym typeface="Calibri"/>
                </a:rPr>
                <a:t>⬤  </a:t>
              </a:r>
              <a:r>
                <a:rPr b="1" i="0" lang="en-US" sz="1300" u="none" cap="none" strike="noStrike">
                  <a:solidFill>
                    <a:srgbClr val="1D283A"/>
                  </a:solidFill>
                  <a:latin typeface="Calibri"/>
                  <a:ea typeface="Calibri"/>
                  <a:cs typeface="Calibri"/>
                  <a:sym typeface="Calibri"/>
                </a:rPr>
                <a:t>Purchase Frequency</a:t>
              </a:r>
              <a:endParaRPr/>
            </a:p>
          </p:txBody>
        </p:sp>
      </p:grpSp>
      <p:grpSp>
        <p:nvGrpSpPr>
          <p:cNvPr id="140" name="Google Shape;140;p4"/>
          <p:cNvGrpSpPr/>
          <p:nvPr/>
        </p:nvGrpSpPr>
        <p:grpSpPr>
          <a:xfrm>
            <a:off x="6150000" y="2289999"/>
            <a:ext cx="2450002" cy="430002"/>
            <a:chOff x="0" y="0"/>
            <a:chExt cx="2450001" cy="430001"/>
          </a:xfrm>
        </p:grpSpPr>
        <p:sp>
          <p:nvSpPr>
            <p:cNvPr id="141" name="Google Shape;141;p4"/>
            <p:cNvSpPr/>
            <p:nvPr/>
          </p:nvSpPr>
          <p:spPr>
            <a:xfrm>
              <a:off x="0" y="0"/>
              <a:ext cx="2450001" cy="430001"/>
            </a:xfrm>
            <a:prstGeom prst="roundRect">
              <a:avLst>
                <a:gd fmla="val 25000" name="adj"/>
              </a:avLst>
            </a:prstGeom>
            <a:solidFill>
              <a:srgbClr val="FFFFFF"/>
            </a:solidFill>
            <a:ln cap="flat" cmpd="sng" w="19425">
              <a:solidFill>
                <a:srgbClr val="0C94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4"/>
            <p:cNvSpPr txBox="1"/>
            <p:nvPr/>
          </p:nvSpPr>
          <p:spPr>
            <a:xfrm>
              <a:off x="161206" y="71619"/>
              <a:ext cx="2127588" cy="2867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000" lIns="60000" spcFirstLastPara="1" rIns="60000" wrap="square" tIns="60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9488"/>
                </a:buClr>
                <a:buSzPts val="900"/>
                <a:buFont typeface="Calibri"/>
                <a:buNone/>
              </a:pPr>
              <a:r>
                <a:rPr b="0" i="0" lang="en-US" sz="900" u="none" cap="none" strike="noStrike">
                  <a:solidFill>
                    <a:srgbClr val="0C9488"/>
                  </a:solidFill>
                  <a:latin typeface="Calibri"/>
                  <a:ea typeface="Calibri"/>
                  <a:cs typeface="Calibri"/>
                  <a:sym typeface="Calibri"/>
                </a:rPr>
                <a:t>⬤  </a:t>
              </a:r>
              <a:r>
                <a:rPr b="1" i="0" lang="en-US" sz="1300" u="none" cap="none" strike="noStrike">
                  <a:solidFill>
                    <a:srgbClr val="1D283A"/>
                  </a:solidFill>
                  <a:latin typeface="Calibri"/>
                  <a:ea typeface="Calibri"/>
                  <a:cs typeface="Calibri"/>
                  <a:sym typeface="Calibri"/>
                </a:rPr>
                <a:t>Price Sensitivity</a:t>
              </a:r>
              <a:endParaRPr/>
            </a:p>
          </p:txBody>
        </p:sp>
      </p:grpSp>
      <p:grpSp>
        <p:nvGrpSpPr>
          <p:cNvPr id="143" name="Google Shape;143;p4"/>
          <p:cNvGrpSpPr/>
          <p:nvPr/>
        </p:nvGrpSpPr>
        <p:grpSpPr>
          <a:xfrm>
            <a:off x="6150000" y="2769999"/>
            <a:ext cx="2450002" cy="430002"/>
            <a:chOff x="0" y="0"/>
            <a:chExt cx="2450001" cy="430001"/>
          </a:xfrm>
        </p:grpSpPr>
        <p:sp>
          <p:nvSpPr>
            <p:cNvPr id="144" name="Google Shape;144;p4"/>
            <p:cNvSpPr/>
            <p:nvPr/>
          </p:nvSpPr>
          <p:spPr>
            <a:xfrm>
              <a:off x="0" y="0"/>
              <a:ext cx="2450001" cy="430001"/>
            </a:xfrm>
            <a:prstGeom prst="roundRect">
              <a:avLst>
                <a:gd fmla="val 25000" name="adj"/>
              </a:avLst>
            </a:prstGeom>
            <a:solidFill>
              <a:srgbClr val="F0FDFC"/>
            </a:solidFill>
            <a:ln cap="flat" cmpd="sng" w="19425">
              <a:solidFill>
                <a:srgbClr val="0C94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4"/>
            <p:cNvSpPr txBox="1"/>
            <p:nvPr/>
          </p:nvSpPr>
          <p:spPr>
            <a:xfrm>
              <a:off x="161206" y="71619"/>
              <a:ext cx="2127588" cy="2867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000" lIns="60000" spcFirstLastPara="1" rIns="60000" wrap="square" tIns="60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9488"/>
                </a:buClr>
                <a:buSzPts val="900"/>
                <a:buFont typeface="Calibri"/>
                <a:buNone/>
              </a:pPr>
              <a:r>
                <a:rPr b="0" i="0" lang="en-US" sz="900" u="none" cap="none" strike="noStrike">
                  <a:solidFill>
                    <a:srgbClr val="0C9488"/>
                  </a:solidFill>
                  <a:latin typeface="Calibri"/>
                  <a:ea typeface="Calibri"/>
                  <a:cs typeface="Calibri"/>
                  <a:sym typeface="Calibri"/>
                </a:rPr>
                <a:t>⬤  </a:t>
              </a:r>
              <a:r>
                <a:rPr b="1" i="0" lang="en-US" sz="1300" u="none" cap="none" strike="noStrike">
                  <a:solidFill>
                    <a:srgbClr val="1D283A"/>
                  </a:solidFill>
                  <a:latin typeface="Calibri"/>
                  <a:ea typeface="Calibri"/>
                  <a:cs typeface="Calibri"/>
                  <a:sym typeface="Calibri"/>
                </a:rPr>
                <a:t>Channel Fit</a:t>
              </a:r>
              <a:endParaRPr/>
            </a:p>
          </p:txBody>
        </p:sp>
      </p:grpSp>
      <p:grpSp>
        <p:nvGrpSpPr>
          <p:cNvPr id="146" name="Google Shape;146;p4"/>
          <p:cNvGrpSpPr/>
          <p:nvPr/>
        </p:nvGrpSpPr>
        <p:grpSpPr>
          <a:xfrm>
            <a:off x="6150000" y="3250000"/>
            <a:ext cx="2450002" cy="430002"/>
            <a:chOff x="0" y="0"/>
            <a:chExt cx="2450001" cy="430001"/>
          </a:xfrm>
        </p:grpSpPr>
        <p:sp>
          <p:nvSpPr>
            <p:cNvPr id="147" name="Google Shape;147;p4"/>
            <p:cNvSpPr/>
            <p:nvPr/>
          </p:nvSpPr>
          <p:spPr>
            <a:xfrm>
              <a:off x="0" y="0"/>
              <a:ext cx="2450001" cy="430001"/>
            </a:xfrm>
            <a:prstGeom prst="roundRect">
              <a:avLst>
                <a:gd fmla="val 25000" name="adj"/>
              </a:avLst>
            </a:prstGeom>
            <a:solidFill>
              <a:srgbClr val="F0FDFC"/>
            </a:solidFill>
            <a:ln cap="flat" cmpd="sng" w="19425">
              <a:solidFill>
                <a:srgbClr val="0C94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4"/>
            <p:cNvSpPr txBox="1"/>
            <p:nvPr/>
          </p:nvSpPr>
          <p:spPr>
            <a:xfrm>
              <a:off x="161206" y="71619"/>
              <a:ext cx="2127588" cy="2867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000" lIns="60000" spcFirstLastPara="1" rIns="60000" wrap="square" tIns="60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9488"/>
                </a:buClr>
                <a:buSzPts val="900"/>
                <a:buFont typeface="Calibri"/>
                <a:buNone/>
              </a:pPr>
              <a:r>
                <a:rPr b="0" i="0" lang="en-US" sz="900" u="none" cap="none" strike="noStrike">
                  <a:solidFill>
                    <a:srgbClr val="0C9488"/>
                  </a:solidFill>
                  <a:latin typeface="Calibri"/>
                  <a:ea typeface="Calibri"/>
                  <a:cs typeface="Calibri"/>
                  <a:sym typeface="Calibri"/>
                </a:rPr>
                <a:t>⬤  </a:t>
              </a:r>
              <a:r>
                <a:rPr b="1" i="0" lang="en-US" sz="1300" u="none" cap="none" strike="noStrike">
                  <a:solidFill>
                    <a:srgbClr val="1D283A"/>
                  </a:solidFill>
                  <a:latin typeface="Calibri"/>
                  <a:ea typeface="Calibri"/>
                  <a:cs typeface="Calibri"/>
                  <a:sym typeface="Calibri"/>
                </a:rPr>
                <a:t>Engagement Style</a:t>
              </a:r>
              <a:endParaRPr/>
            </a:p>
          </p:txBody>
        </p:sp>
      </p:grpSp>
      <p:grpSp>
        <p:nvGrpSpPr>
          <p:cNvPr id="149" name="Google Shape;149;p4"/>
          <p:cNvGrpSpPr/>
          <p:nvPr/>
        </p:nvGrpSpPr>
        <p:grpSpPr>
          <a:xfrm>
            <a:off x="6150000" y="3729999"/>
            <a:ext cx="2450002" cy="430002"/>
            <a:chOff x="0" y="0"/>
            <a:chExt cx="2450001" cy="430001"/>
          </a:xfrm>
        </p:grpSpPr>
        <p:sp>
          <p:nvSpPr>
            <p:cNvPr id="150" name="Google Shape;150;p4"/>
            <p:cNvSpPr/>
            <p:nvPr/>
          </p:nvSpPr>
          <p:spPr>
            <a:xfrm>
              <a:off x="0" y="0"/>
              <a:ext cx="2450001" cy="430001"/>
            </a:xfrm>
            <a:prstGeom prst="roundRect">
              <a:avLst>
                <a:gd fmla="val 25000" name="adj"/>
              </a:avLst>
            </a:prstGeom>
            <a:solidFill>
              <a:srgbClr val="F0FDFC"/>
            </a:solidFill>
            <a:ln cap="flat" cmpd="sng" w="19425">
              <a:solidFill>
                <a:srgbClr val="0C94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4"/>
            <p:cNvSpPr txBox="1"/>
            <p:nvPr/>
          </p:nvSpPr>
          <p:spPr>
            <a:xfrm>
              <a:off x="161206" y="71619"/>
              <a:ext cx="2127588" cy="2867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000" lIns="60000" spcFirstLastPara="1" rIns="60000" wrap="square" tIns="60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9488"/>
                </a:buClr>
                <a:buSzPts val="900"/>
                <a:buFont typeface="Calibri"/>
                <a:buNone/>
              </a:pPr>
              <a:r>
                <a:rPr b="0" i="0" lang="en-US" sz="900" u="none" cap="none" strike="noStrike">
                  <a:solidFill>
                    <a:srgbClr val="0C9488"/>
                  </a:solidFill>
                  <a:latin typeface="Calibri"/>
                  <a:ea typeface="Calibri"/>
                  <a:cs typeface="Calibri"/>
                  <a:sym typeface="Calibri"/>
                </a:rPr>
                <a:t>⬤  </a:t>
              </a:r>
              <a:r>
                <a:rPr b="1" i="0" lang="en-US" sz="1300" u="none" cap="none" strike="noStrike">
                  <a:solidFill>
                    <a:srgbClr val="1D283A"/>
                  </a:solidFill>
                  <a:latin typeface="Calibri"/>
                  <a:ea typeface="Calibri"/>
                  <a:cs typeface="Calibri"/>
                  <a:sym typeface="Calibri"/>
                </a:rPr>
                <a:t>Intent Signals</a:t>
              </a:r>
              <a:endParaRPr/>
            </a:p>
          </p:txBody>
        </p:sp>
      </p:grpSp>
      <p:sp>
        <p:nvSpPr>
          <p:cNvPr id="152" name="Google Shape;152;p4"/>
          <p:cNvSpPr txBox="1"/>
          <p:nvPr/>
        </p:nvSpPr>
        <p:spPr>
          <a:xfrm>
            <a:off x="444999" y="4521619"/>
            <a:ext cx="8110002" cy="256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4975" lIns="44975" spcFirstLastPara="1" rIns="44975" wrap="square" tIns="449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82F6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3A82F6"/>
                </a:solidFill>
                <a:latin typeface="Calibri"/>
                <a:ea typeface="Calibri"/>
                <a:cs typeface="Calibri"/>
                <a:sym typeface="Calibri"/>
              </a:rPr>
              <a:t>Every profile is built from your actual data — not generic signals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 txBox="1"/>
          <p:nvPr/>
        </p:nvSpPr>
        <p:spPr>
          <a:xfrm>
            <a:off x="502199" y="219959"/>
            <a:ext cx="8139602" cy="495608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83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rPr>
              <a:t>Lead Card</a:t>
            </a:r>
            <a:endParaRPr/>
          </a:p>
        </p:txBody>
      </p:sp>
      <p:sp>
        <p:nvSpPr>
          <p:cNvPr id="158" name="Google Shape;158;p5"/>
          <p:cNvSpPr txBox="1"/>
          <p:nvPr/>
        </p:nvSpPr>
        <p:spPr>
          <a:xfrm>
            <a:off x="502199" y="645479"/>
            <a:ext cx="8139602" cy="246866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65468"/>
                </a:solidFill>
                <a:latin typeface="Calibri"/>
                <a:ea typeface="Calibri"/>
                <a:cs typeface="Calibri"/>
                <a:sym typeface="Calibri"/>
              </a:rPr>
              <a:t>Every potential buyer gets enriched by Opsa’s Buyer Knowledge Graph</a:t>
            </a:r>
            <a:endParaRPr/>
          </a:p>
        </p:txBody>
      </p:sp>
      <p:pic>
        <p:nvPicPr>
          <p:cNvPr descr="image15.png" id="159" name="Google Shape;15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759" y="1013040"/>
            <a:ext cx="4671721" cy="34070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16.png" id="160" name="Google Shape;16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4279" y="1082160"/>
            <a:ext cx="3944882" cy="1841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7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 txBox="1"/>
          <p:nvPr/>
        </p:nvSpPr>
        <p:spPr>
          <a:xfrm>
            <a:off x="456479" y="177876"/>
            <a:ext cx="8231042" cy="495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646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92646"/>
                </a:solidFill>
                <a:latin typeface="Calibri"/>
                <a:ea typeface="Calibri"/>
                <a:cs typeface="Calibri"/>
                <a:sym typeface="Calibri"/>
              </a:rPr>
              <a:t>From Intelligence to Action</a:t>
            </a:r>
            <a:endParaRPr/>
          </a:p>
        </p:txBody>
      </p:sp>
      <p:sp>
        <p:nvSpPr>
          <p:cNvPr id="166" name="Google Shape;166;p6"/>
          <p:cNvSpPr txBox="1"/>
          <p:nvPr/>
        </p:nvSpPr>
        <p:spPr>
          <a:xfrm>
            <a:off x="456480" y="654999"/>
            <a:ext cx="8139601" cy="279360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65468"/>
                </a:solidFill>
                <a:latin typeface="Calibri"/>
                <a:ea typeface="Calibri"/>
                <a:cs typeface="Calibri"/>
                <a:sym typeface="Calibri"/>
              </a:rPr>
              <a:t>Two inputs. One brain. Continuous automated sales execution.</a:t>
            </a:r>
            <a:endParaRPr/>
          </a:p>
        </p:txBody>
      </p:sp>
      <p:grpSp>
        <p:nvGrpSpPr>
          <p:cNvPr id="167" name="Google Shape;167;p6"/>
          <p:cNvGrpSpPr/>
          <p:nvPr/>
        </p:nvGrpSpPr>
        <p:grpSpPr>
          <a:xfrm>
            <a:off x="400000" y="1699999"/>
            <a:ext cx="2100001" cy="680002"/>
            <a:chOff x="0" y="0"/>
            <a:chExt cx="2100000" cy="680001"/>
          </a:xfrm>
        </p:grpSpPr>
        <p:sp>
          <p:nvSpPr>
            <p:cNvPr id="168" name="Google Shape;168;p6"/>
            <p:cNvSpPr/>
            <p:nvPr/>
          </p:nvSpPr>
          <p:spPr>
            <a:xfrm>
              <a:off x="0" y="0"/>
              <a:ext cx="2100000" cy="680001"/>
            </a:xfrm>
            <a:prstGeom prst="roundRect">
              <a:avLst>
                <a:gd fmla="val 15000" name="adj"/>
              </a:avLst>
            </a:prstGeom>
            <a:solidFill>
              <a:srgbClr val="1926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6"/>
            <p:cNvSpPr txBox="1"/>
            <p:nvPr/>
          </p:nvSpPr>
          <p:spPr>
            <a:xfrm>
              <a:off x="119875" y="57924"/>
              <a:ext cx="1860250" cy="564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975" lIns="89975" spcFirstLastPara="1" rIns="89975" wrap="square" tIns="899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DB4D0"/>
                </a:buClr>
                <a:buSzPts val="1100"/>
                <a:buFont typeface="Calibri"/>
                <a:buNone/>
              </a:pPr>
              <a:r>
                <a:rPr b="0" i="0" lang="en-US" sz="1100" u="none" cap="none" strike="noStrike">
                  <a:solidFill>
                    <a:srgbClr val="9DB4D0"/>
                  </a:solidFill>
                  <a:latin typeface="Calibri"/>
                  <a:ea typeface="Calibri"/>
                  <a:cs typeface="Calibri"/>
                  <a:sym typeface="Calibri"/>
                </a:rPr>
                <a:t>BUYER PROFILE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00"/>
                <a:buFont typeface="Calibri"/>
                <a:buNone/>
              </a:pPr>
              <a:r>
                <a:rPr b="1" i="0" lang="en-US" sz="1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Buyer Intelligence</a:t>
              </a:r>
              <a:endParaRPr/>
            </a:p>
          </p:txBody>
        </p:sp>
      </p:grpSp>
      <p:grpSp>
        <p:nvGrpSpPr>
          <p:cNvPr id="170" name="Google Shape;170;p6"/>
          <p:cNvGrpSpPr/>
          <p:nvPr/>
        </p:nvGrpSpPr>
        <p:grpSpPr>
          <a:xfrm>
            <a:off x="400000" y="2504575"/>
            <a:ext cx="2100001" cy="830852"/>
            <a:chOff x="0" y="0"/>
            <a:chExt cx="2100000" cy="830851"/>
          </a:xfrm>
        </p:grpSpPr>
        <p:sp>
          <p:nvSpPr>
            <p:cNvPr id="171" name="Google Shape;171;p6"/>
            <p:cNvSpPr/>
            <p:nvPr/>
          </p:nvSpPr>
          <p:spPr>
            <a:xfrm>
              <a:off x="0" y="75425"/>
              <a:ext cx="2100000" cy="680001"/>
            </a:xfrm>
            <a:prstGeom prst="roundRect">
              <a:avLst>
                <a:gd fmla="val 15000" name="adj"/>
              </a:avLst>
            </a:prstGeom>
            <a:solidFill>
              <a:srgbClr val="1926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6"/>
            <p:cNvSpPr txBox="1"/>
            <p:nvPr/>
          </p:nvSpPr>
          <p:spPr>
            <a:xfrm>
              <a:off x="119875" y="0"/>
              <a:ext cx="1860250" cy="8308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975" lIns="89975" spcFirstLastPara="1" rIns="89975" wrap="square" tIns="899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DB4D0"/>
                </a:buClr>
                <a:buSzPts val="1100"/>
                <a:buFont typeface="Calibri"/>
                <a:buNone/>
              </a:pPr>
              <a:r>
                <a:rPr b="0" i="0" lang="en-US" sz="1100" u="none" cap="none" strike="noStrike">
                  <a:solidFill>
                    <a:srgbClr val="9DB4D0"/>
                  </a:solidFill>
                  <a:latin typeface="Calibri"/>
                  <a:ea typeface="Calibri"/>
                  <a:cs typeface="Calibri"/>
                  <a:sym typeface="Calibri"/>
                </a:rPr>
                <a:t>ERP + CATALOG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00"/>
                <a:buFont typeface="Calibri"/>
                <a:buNone/>
              </a:pPr>
              <a:r>
                <a:rPr b="1" i="0" lang="en-US" sz="1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Inventory &amp; Pricing</a:t>
              </a:r>
              <a:endParaRPr/>
            </a:p>
          </p:txBody>
        </p:sp>
      </p:grpSp>
      <p:sp>
        <p:nvSpPr>
          <p:cNvPr id="173" name="Google Shape;173;p6"/>
          <p:cNvSpPr/>
          <p:nvPr/>
        </p:nvSpPr>
        <p:spPr>
          <a:xfrm>
            <a:off x="2520000" y="1990000"/>
            <a:ext cx="650001" cy="100001"/>
          </a:xfrm>
          <a:prstGeom prst="rightArrow">
            <a:avLst>
              <a:gd fmla="val 50000" name="adj1"/>
              <a:gd fmla="val 45000" name="adj2"/>
            </a:avLst>
          </a:prstGeom>
          <a:solidFill>
            <a:srgbClr val="3A82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2520000" y="2870000"/>
            <a:ext cx="650001" cy="100001"/>
          </a:xfrm>
          <a:prstGeom prst="rightArrow">
            <a:avLst>
              <a:gd fmla="val 50000" name="adj1"/>
              <a:gd fmla="val 45000" name="adj2"/>
            </a:avLst>
          </a:prstGeom>
          <a:solidFill>
            <a:srgbClr val="3A82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3169999" y="1200000"/>
            <a:ext cx="2620001" cy="3100000"/>
          </a:xfrm>
          <a:prstGeom prst="roundRect">
            <a:avLst>
              <a:gd fmla="val 6000" name="adj"/>
            </a:avLst>
          </a:prstGeom>
          <a:solidFill>
            <a:srgbClr val="3A82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 txBox="1"/>
          <p:nvPr/>
        </p:nvSpPr>
        <p:spPr>
          <a:xfrm>
            <a:off x="3199999" y="1315423"/>
            <a:ext cx="2560001" cy="329154"/>
          </a:xfrm>
          <a:prstGeom prst="rect">
            <a:avLst/>
          </a:prstGeom>
          <a:noFill/>
          <a:ln>
            <a:noFill/>
          </a:ln>
        </p:spPr>
        <p:txBody>
          <a:bodyPr anchorCtr="0" anchor="ctr" bIns="60000" lIns="60000" spcFirstLastPara="1" rIns="60000" wrap="square" tIns="60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Opsa Engagement Engine</a:t>
            </a:r>
            <a:endParaRPr/>
          </a:p>
        </p:txBody>
      </p:sp>
      <p:sp>
        <p:nvSpPr>
          <p:cNvPr id="177" name="Google Shape;177;p6"/>
          <p:cNvSpPr txBox="1"/>
          <p:nvPr/>
        </p:nvSpPr>
        <p:spPr>
          <a:xfrm>
            <a:off x="3259999" y="1822866"/>
            <a:ext cx="2440001" cy="1342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BFDBFE"/>
                </a:solidFill>
                <a:latin typeface="Calibri"/>
                <a:ea typeface="Calibri"/>
                <a:cs typeface="Calibri"/>
                <a:sym typeface="Calibri"/>
              </a:rPr>
              <a:t>Decides who, what, when, how</a:t>
            </a:r>
            <a:endParaRPr/>
          </a:p>
        </p:txBody>
      </p:sp>
      <p:grpSp>
        <p:nvGrpSpPr>
          <p:cNvPr id="178" name="Google Shape;178;p6"/>
          <p:cNvGrpSpPr/>
          <p:nvPr/>
        </p:nvGrpSpPr>
        <p:grpSpPr>
          <a:xfrm>
            <a:off x="3280000" y="2071317"/>
            <a:ext cx="1150002" cy="437367"/>
            <a:chOff x="0" y="0"/>
            <a:chExt cx="1150000" cy="437365"/>
          </a:xfrm>
        </p:grpSpPr>
        <p:sp>
          <p:nvSpPr>
            <p:cNvPr id="179" name="Google Shape;179;p6"/>
            <p:cNvSpPr/>
            <p:nvPr/>
          </p:nvSpPr>
          <p:spPr>
            <a:xfrm>
              <a:off x="0" y="38682"/>
              <a:ext cx="1150000" cy="360001"/>
            </a:xfrm>
            <a:prstGeom prst="roundRect">
              <a:avLst>
                <a:gd fmla="val 50000" name="adj"/>
              </a:avLst>
            </a:prstGeom>
            <a:solidFill>
              <a:srgbClr val="1D4E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6"/>
            <p:cNvSpPr txBox="1"/>
            <p:nvPr/>
          </p:nvSpPr>
          <p:spPr>
            <a:xfrm>
              <a:off x="97720" y="0"/>
              <a:ext cx="954560" cy="437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975" lIns="44975" spcFirstLastPara="1" rIns="44975" wrap="square" tIns="449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Who to prioritize</a:t>
              </a:r>
              <a:endParaRPr/>
            </a:p>
          </p:txBody>
        </p:sp>
      </p:grpSp>
      <p:grpSp>
        <p:nvGrpSpPr>
          <p:cNvPr id="181" name="Google Shape;181;p6"/>
          <p:cNvGrpSpPr/>
          <p:nvPr/>
        </p:nvGrpSpPr>
        <p:grpSpPr>
          <a:xfrm>
            <a:off x="4529999" y="2110000"/>
            <a:ext cx="1150002" cy="360002"/>
            <a:chOff x="0" y="0"/>
            <a:chExt cx="1150000" cy="360000"/>
          </a:xfrm>
        </p:grpSpPr>
        <p:sp>
          <p:nvSpPr>
            <p:cNvPr id="182" name="Google Shape;182;p6"/>
            <p:cNvSpPr/>
            <p:nvPr/>
          </p:nvSpPr>
          <p:spPr>
            <a:xfrm>
              <a:off x="0" y="0"/>
              <a:ext cx="1150000" cy="360000"/>
            </a:xfrm>
            <a:prstGeom prst="roundRect">
              <a:avLst>
                <a:gd fmla="val 50000" name="adj"/>
              </a:avLst>
            </a:prstGeom>
            <a:solidFill>
              <a:srgbClr val="1D4E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6"/>
            <p:cNvSpPr txBox="1"/>
            <p:nvPr/>
          </p:nvSpPr>
          <p:spPr>
            <a:xfrm>
              <a:off x="97720" y="56567"/>
              <a:ext cx="954560" cy="2468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975" lIns="44975" spcFirstLastPara="1" rIns="44975" wrap="square" tIns="449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What to offer</a:t>
              </a:r>
              <a:endParaRPr/>
            </a:p>
          </p:txBody>
        </p:sp>
      </p:grpSp>
      <p:grpSp>
        <p:nvGrpSpPr>
          <p:cNvPr id="184" name="Google Shape;184;p6"/>
          <p:cNvGrpSpPr/>
          <p:nvPr/>
        </p:nvGrpSpPr>
        <p:grpSpPr>
          <a:xfrm>
            <a:off x="3280000" y="2569999"/>
            <a:ext cx="1150002" cy="360002"/>
            <a:chOff x="0" y="0"/>
            <a:chExt cx="1150000" cy="360000"/>
          </a:xfrm>
        </p:grpSpPr>
        <p:sp>
          <p:nvSpPr>
            <p:cNvPr id="185" name="Google Shape;185;p6"/>
            <p:cNvSpPr/>
            <p:nvPr/>
          </p:nvSpPr>
          <p:spPr>
            <a:xfrm>
              <a:off x="0" y="0"/>
              <a:ext cx="1150000" cy="360000"/>
            </a:xfrm>
            <a:prstGeom prst="roundRect">
              <a:avLst>
                <a:gd fmla="val 50000" name="adj"/>
              </a:avLst>
            </a:prstGeom>
            <a:solidFill>
              <a:srgbClr val="1D4E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6"/>
            <p:cNvSpPr txBox="1"/>
            <p:nvPr/>
          </p:nvSpPr>
          <p:spPr>
            <a:xfrm>
              <a:off x="97720" y="56567"/>
              <a:ext cx="954560" cy="2468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975" lIns="44975" spcFirstLastPara="1" rIns="44975" wrap="square" tIns="449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How to price</a:t>
              </a:r>
              <a:endParaRPr/>
            </a:p>
          </p:txBody>
        </p:sp>
      </p:grpSp>
      <p:grpSp>
        <p:nvGrpSpPr>
          <p:cNvPr id="187" name="Google Shape;187;p6"/>
          <p:cNvGrpSpPr/>
          <p:nvPr/>
        </p:nvGrpSpPr>
        <p:grpSpPr>
          <a:xfrm>
            <a:off x="4529999" y="2531317"/>
            <a:ext cx="1150002" cy="437367"/>
            <a:chOff x="0" y="0"/>
            <a:chExt cx="1150000" cy="437365"/>
          </a:xfrm>
        </p:grpSpPr>
        <p:sp>
          <p:nvSpPr>
            <p:cNvPr id="188" name="Google Shape;188;p6"/>
            <p:cNvSpPr/>
            <p:nvPr/>
          </p:nvSpPr>
          <p:spPr>
            <a:xfrm>
              <a:off x="0" y="38682"/>
              <a:ext cx="1150000" cy="360001"/>
            </a:xfrm>
            <a:prstGeom prst="roundRect">
              <a:avLst>
                <a:gd fmla="val 50000" name="adj"/>
              </a:avLst>
            </a:prstGeom>
            <a:solidFill>
              <a:srgbClr val="1D4E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6"/>
            <p:cNvSpPr txBox="1"/>
            <p:nvPr/>
          </p:nvSpPr>
          <p:spPr>
            <a:xfrm>
              <a:off x="97720" y="0"/>
              <a:ext cx="954560" cy="437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975" lIns="44975" spcFirstLastPara="1" rIns="44975" wrap="square" tIns="449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When to engage</a:t>
              </a:r>
              <a:endParaRPr/>
            </a:p>
          </p:txBody>
        </p:sp>
      </p:grpSp>
      <p:sp>
        <p:nvSpPr>
          <p:cNvPr id="190" name="Google Shape;190;p6"/>
          <p:cNvSpPr txBox="1"/>
          <p:nvPr/>
        </p:nvSpPr>
        <p:spPr>
          <a:xfrm>
            <a:off x="3259999" y="3111464"/>
            <a:ext cx="2440001" cy="137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BFDBFE"/>
                </a:solidFill>
                <a:latin typeface="Calibri"/>
                <a:ea typeface="Calibri"/>
                <a:cs typeface="Calibri"/>
                <a:sym typeface="Calibri"/>
              </a:rPr>
              <a:t>Runs autonomously, 24/7</a:t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5810000" y="2695000"/>
            <a:ext cx="650001" cy="110001"/>
          </a:xfrm>
          <a:prstGeom prst="rightArrow">
            <a:avLst>
              <a:gd fmla="val 50000" name="adj1"/>
              <a:gd fmla="val 45000" name="adj2"/>
            </a:avLst>
          </a:prstGeom>
          <a:solidFill>
            <a:srgbClr val="3A82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6459999" y="1200000"/>
            <a:ext cx="2250001" cy="3100000"/>
          </a:xfrm>
          <a:prstGeom prst="roundRect">
            <a:avLst>
              <a:gd fmla="val 6000" name="adj"/>
            </a:avLst>
          </a:prstGeom>
          <a:solidFill>
            <a:srgbClr val="0C948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3" name="Google Shape;193;p6"/>
          <p:cNvGrpSpPr/>
          <p:nvPr/>
        </p:nvGrpSpPr>
        <p:grpSpPr>
          <a:xfrm>
            <a:off x="6459999" y="1200000"/>
            <a:ext cx="2250002" cy="560002"/>
            <a:chOff x="0" y="0"/>
            <a:chExt cx="2250001" cy="560001"/>
          </a:xfrm>
        </p:grpSpPr>
        <p:sp>
          <p:nvSpPr>
            <p:cNvPr id="194" name="Google Shape;194;p6"/>
            <p:cNvSpPr/>
            <p:nvPr/>
          </p:nvSpPr>
          <p:spPr>
            <a:xfrm>
              <a:off x="0" y="0"/>
              <a:ext cx="2250001" cy="560001"/>
            </a:xfrm>
            <a:prstGeom prst="roundRect">
              <a:avLst>
                <a:gd fmla="val 6000" name="adj"/>
              </a:avLst>
            </a:prstGeom>
            <a:solidFill>
              <a:srgbClr val="1926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6"/>
            <p:cNvSpPr txBox="1"/>
            <p:nvPr/>
          </p:nvSpPr>
          <p:spPr>
            <a:xfrm>
              <a:off x="39840" y="115423"/>
              <a:ext cx="2170320" cy="329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000" lIns="60000" spcFirstLastPara="1" rIns="60000" wrap="square" tIns="600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Automated Actions</a:t>
              </a:r>
              <a:endParaRPr/>
            </a:p>
          </p:txBody>
        </p:sp>
      </p:grpSp>
      <p:sp>
        <p:nvSpPr>
          <p:cNvPr id="196" name="Google Shape;196;p6"/>
          <p:cNvSpPr txBox="1"/>
          <p:nvPr/>
        </p:nvSpPr>
        <p:spPr>
          <a:xfrm>
            <a:off x="6560000" y="1840000"/>
            <a:ext cx="2050001" cy="1055160"/>
          </a:xfrm>
          <a:prstGeom prst="rect">
            <a:avLst/>
          </a:prstGeom>
          <a:noFill/>
          <a:ln>
            <a:noFill/>
          </a:ln>
        </p:spPr>
        <p:txBody>
          <a:bodyPr anchorCtr="0" anchor="t" bIns="89975" lIns="89975" spcFirstLastPara="1" rIns="89975" wrap="square" tIns="89975">
            <a:spAutoFit/>
          </a:bodyPr>
          <a:lstStyle/>
          <a:p>
            <a:pPr indent="-200000" lvl="0" marL="20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✓"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Personalized Offers</a:t>
            </a:r>
            <a:endParaRPr/>
          </a:p>
          <a:p>
            <a:pPr indent="-200000" lvl="0" marL="20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✓"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Quotes &amp; Negotiation</a:t>
            </a:r>
            <a:endParaRPr/>
          </a:p>
          <a:p>
            <a:pPr indent="-200000" lvl="0" marL="20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✓"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Automated Follow-Up</a:t>
            </a:r>
            <a:endParaRPr/>
          </a:p>
          <a:p>
            <a:pPr indent="-200000" lvl="0" marL="20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✓"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 Processing</a:t>
            </a:r>
            <a:endParaRPr/>
          </a:p>
        </p:txBody>
      </p:sp>
      <p:sp>
        <p:nvSpPr>
          <p:cNvPr id="197" name="Google Shape;197;p6"/>
          <p:cNvSpPr txBox="1"/>
          <p:nvPr/>
        </p:nvSpPr>
        <p:spPr>
          <a:xfrm>
            <a:off x="444999" y="4505021"/>
            <a:ext cx="8210002" cy="2699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4975" lIns="44975" spcFirstLastPara="1" rIns="44975" wrap="square" tIns="449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82F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3A82F6"/>
                </a:solidFill>
                <a:latin typeface="Calibri"/>
                <a:ea typeface="Calibri"/>
                <a:cs typeface="Calibri"/>
                <a:sym typeface="Calibri"/>
              </a:rPr>
              <a:t>↺  Every response feeds back into the buyer knowledge graph — Opsa gets smarter with every interaction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"/>
          <p:cNvSpPr/>
          <p:nvPr/>
        </p:nvSpPr>
        <p:spPr>
          <a:xfrm>
            <a:off x="-914580" y="-457380"/>
            <a:ext cx="2743471" cy="2743471"/>
          </a:xfrm>
          <a:custGeom>
            <a:rect b="b" l="l" r="r" t="t"/>
            <a:pathLst>
              <a:path extrusionOk="0" h="19681" w="19681">
                <a:moveTo>
                  <a:pt x="16801" y="2879"/>
                </a:moveTo>
                <a:cubicBezTo>
                  <a:pt x="20641" y="6724"/>
                  <a:pt x="20641" y="12958"/>
                  <a:pt x="16801" y="16801"/>
                </a:cubicBezTo>
                <a:cubicBezTo>
                  <a:pt x="12958" y="20641"/>
                  <a:pt x="6724" y="20641"/>
                  <a:pt x="2879" y="16801"/>
                </a:cubicBezTo>
                <a:cubicBezTo>
                  <a:pt x="-959" y="12958"/>
                  <a:pt x="-959" y="6724"/>
                  <a:pt x="2879" y="2879"/>
                </a:cubicBezTo>
                <a:cubicBezTo>
                  <a:pt x="6724" y="-959"/>
                  <a:pt x="12958" y="-959"/>
                  <a:pt x="16801" y="2879"/>
                </a:cubicBezTo>
                <a:close/>
              </a:path>
            </a:pathLst>
          </a:custGeom>
          <a:solidFill>
            <a:srgbClr val="3A82F6">
              <a:alpha val="7843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0"/>
          <p:cNvSpPr txBox="1"/>
          <p:nvPr/>
        </p:nvSpPr>
        <p:spPr>
          <a:xfrm>
            <a:off x="776519" y="1687679"/>
            <a:ext cx="7225201" cy="73770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Next Steps</a:t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3931920" y="2468879"/>
            <a:ext cx="1280521" cy="55081"/>
          </a:xfrm>
          <a:prstGeom prst="rect">
            <a:avLst/>
          </a:prstGeom>
          <a:solidFill>
            <a:srgbClr val="3A82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0"/>
          <p:cNvSpPr txBox="1"/>
          <p:nvPr/>
        </p:nvSpPr>
        <p:spPr>
          <a:xfrm>
            <a:off x="1416599" y="2896560"/>
            <a:ext cx="6310802" cy="331648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Let's explore how Opsa can transform your sales operation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cbacdd6c32_0_1"/>
          <p:cNvSpPr txBox="1"/>
          <p:nvPr/>
        </p:nvSpPr>
        <p:spPr>
          <a:xfrm>
            <a:off x="548640" y="365760"/>
            <a:ext cx="8046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rPr>
              <a:t>Business Impact You Can Expect</a:t>
            </a:r>
            <a:endParaRPr/>
          </a:p>
        </p:txBody>
      </p:sp>
      <p:sp>
        <p:nvSpPr>
          <p:cNvPr id="211" name="Google Shape;211;g3cbacdd6c32_0_1"/>
          <p:cNvSpPr txBox="1"/>
          <p:nvPr/>
        </p:nvSpPr>
        <p:spPr>
          <a:xfrm>
            <a:off x="548640" y="868680"/>
            <a:ext cx="7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Based on results from our design partners</a:t>
            </a:r>
            <a:endParaRPr/>
          </a:p>
        </p:txBody>
      </p:sp>
      <p:sp>
        <p:nvSpPr>
          <p:cNvPr id="212" name="Google Shape;212;g3cbacdd6c32_0_1"/>
          <p:cNvSpPr/>
          <p:nvPr/>
        </p:nvSpPr>
        <p:spPr>
          <a:xfrm>
            <a:off x="502920" y="1463040"/>
            <a:ext cx="2560200" cy="16458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cbacdd6c32_0_1"/>
          <p:cNvSpPr txBox="1"/>
          <p:nvPr/>
        </p:nvSpPr>
        <p:spPr>
          <a:xfrm>
            <a:off x="594360" y="1645920"/>
            <a:ext cx="2377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rPr>
              <a:t>$125K</a:t>
            </a:r>
            <a:endParaRPr/>
          </a:p>
        </p:txBody>
      </p:sp>
      <p:sp>
        <p:nvSpPr>
          <p:cNvPr id="214" name="Google Shape;214;g3cbacdd6c32_0_1"/>
          <p:cNvSpPr txBox="1"/>
          <p:nvPr/>
        </p:nvSpPr>
        <p:spPr>
          <a:xfrm>
            <a:off x="594360" y="2240280"/>
            <a:ext cx="237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rPr>
              <a:t>incremental monthly</a:t>
            </a:r>
            <a:br>
              <a:rPr b="1" i="0" lang="en-US" sz="1200" u="none" cap="none" strike="noStrike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rPr>
              <a:t>revenue per partner</a:t>
            </a:r>
            <a:endParaRPr/>
          </a:p>
        </p:txBody>
      </p:sp>
      <p:sp>
        <p:nvSpPr>
          <p:cNvPr id="215" name="Google Shape;215;g3cbacdd6c32_0_1"/>
          <p:cNvSpPr txBox="1"/>
          <p:nvPr/>
        </p:nvSpPr>
        <p:spPr>
          <a:xfrm>
            <a:off x="594360" y="2697480"/>
            <a:ext cx="2377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(90-day average)</a:t>
            </a:r>
            <a:endParaRPr/>
          </a:p>
        </p:txBody>
      </p:sp>
      <p:sp>
        <p:nvSpPr>
          <p:cNvPr id="216" name="Google Shape;216;g3cbacdd6c32_0_1"/>
          <p:cNvSpPr/>
          <p:nvPr/>
        </p:nvSpPr>
        <p:spPr>
          <a:xfrm>
            <a:off x="3337559" y="1463040"/>
            <a:ext cx="2560200" cy="16458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cbacdd6c32_0_1"/>
          <p:cNvSpPr txBox="1"/>
          <p:nvPr/>
        </p:nvSpPr>
        <p:spPr>
          <a:xfrm>
            <a:off x="3428999" y="1645920"/>
            <a:ext cx="2377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rPr>
              <a:t>60%</a:t>
            </a:r>
            <a:endParaRPr/>
          </a:p>
        </p:txBody>
      </p:sp>
      <p:sp>
        <p:nvSpPr>
          <p:cNvPr id="218" name="Google Shape;218;g3cbacdd6c32_0_1"/>
          <p:cNvSpPr txBox="1"/>
          <p:nvPr/>
        </p:nvSpPr>
        <p:spPr>
          <a:xfrm>
            <a:off x="3428999" y="2240280"/>
            <a:ext cx="237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rPr>
              <a:t>of dormant leads</a:t>
            </a:r>
            <a:br>
              <a:rPr b="1" i="0" lang="en-US" sz="1200" u="none" cap="none" strike="noStrike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rPr>
              <a:t>re-activated</a:t>
            </a:r>
            <a:endParaRPr/>
          </a:p>
        </p:txBody>
      </p:sp>
      <p:sp>
        <p:nvSpPr>
          <p:cNvPr id="219" name="Google Shape;219;g3cbacdd6c32_0_1"/>
          <p:cNvSpPr txBox="1"/>
          <p:nvPr/>
        </p:nvSpPr>
        <p:spPr>
          <a:xfrm>
            <a:off x="3428999" y="2697480"/>
            <a:ext cx="2377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(within 3 months)</a:t>
            </a:r>
            <a:endParaRPr/>
          </a:p>
        </p:txBody>
      </p:sp>
      <p:sp>
        <p:nvSpPr>
          <p:cNvPr id="220" name="Google Shape;220;g3cbacdd6c32_0_1"/>
          <p:cNvSpPr/>
          <p:nvPr/>
        </p:nvSpPr>
        <p:spPr>
          <a:xfrm>
            <a:off x="6172199" y="1463040"/>
            <a:ext cx="2560200" cy="16458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cbacdd6c32_0_1"/>
          <p:cNvSpPr txBox="1"/>
          <p:nvPr/>
        </p:nvSpPr>
        <p:spPr>
          <a:xfrm>
            <a:off x="6263639" y="1645920"/>
            <a:ext cx="2377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rPr>
              <a:t>40+</a:t>
            </a:r>
            <a:endParaRPr/>
          </a:p>
        </p:txBody>
      </p:sp>
      <p:sp>
        <p:nvSpPr>
          <p:cNvPr id="222" name="Google Shape;222;g3cbacdd6c32_0_1"/>
          <p:cNvSpPr txBox="1"/>
          <p:nvPr/>
        </p:nvSpPr>
        <p:spPr>
          <a:xfrm>
            <a:off x="6263639" y="2240280"/>
            <a:ext cx="237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rPr>
              <a:t>orders closed by</a:t>
            </a:r>
            <a:br>
              <a:rPr b="1" i="0" lang="en-US" sz="1200" u="none" cap="none" strike="noStrike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rPr>
              <a:t>first customer alone</a:t>
            </a:r>
            <a:endParaRPr/>
          </a:p>
        </p:txBody>
      </p:sp>
      <p:sp>
        <p:nvSpPr>
          <p:cNvPr id="223" name="Google Shape;223;g3cbacdd6c32_0_1"/>
          <p:cNvSpPr txBox="1"/>
          <p:nvPr/>
        </p:nvSpPr>
        <p:spPr>
          <a:xfrm>
            <a:off x="6263639" y="2697480"/>
            <a:ext cx="2377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(in 90 days)</a:t>
            </a:r>
            <a:endParaRPr/>
          </a:p>
        </p:txBody>
      </p:sp>
      <p:sp>
        <p:nvSpPr>
          <p:cNvPr id="224" name="Google Shape;224;g3cbacdd6c32_0_1"/>
          <p:cNvSpPr txBox="1"/>
          <p:nvPr/>
        </p:nvSpPr>
        <p:spPr>
          <a:xfrm>
            <a:off x="548640" y="3719335"/>
            <a:ext cx="804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3A82F6"/>
                </a:solidFill>
                <a:latin typeface="Calibri"/>
                <a:ea typeface="Calibri"/>
                <a:cs typeface="Calibri"/>
                <a:sym typeface="Calibri"/>
              </a:rPr>
              <a:t>We share the risk — Opsa only charges when it generates measurable incremental revenue.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"/>
          <p:cNvSpPr txBox="1"/>
          <p:nvPr/>
        </p:nvSpPr>
        <p:spPr>
          <a:xfrm>
            <a:off x="685080" y="404999"/>
            <a:ext cx="7225201" cy="55990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83A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rPr>
              <a:t>Is Opsa Right for You?</a:t>
            </a:r>
            <a:endParaRPr/>
          </a:p>
        </p:txBody>
      </p:sp>
      <p:sp>
        <p:nvSpPr>
          <p:cNvPr id="230" name="Google Shape;230;p11"/>
          <p:cNvSpPr/>
          <p:nvPr/>
        </p:nvSpPr>
        <p:spPr>
          <a:xfrm>
            <a:off x="457199" y="1097280"/>
            <a:ext cx="3932282" cy="3566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457199" y="1097280"/>
            <a:ext cx="3932282" cy="55081"/>
          </a:xfrm>
          <a:prstGeom prst="rect">
            <a:avLst/>
          </a:prstGeom>
          <a:solidFill>
            <a:srgbClr val="0FB98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1"/>
          <p:cNvSpPr txBox="1"/>
          <p:nvPr/>
        </p:nvSpPr>
        <p:spPr>
          <a:xfrm>
            <a:off x="776520" y="1375560"/>
            <a:ext cx="3293280" cy="35670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B981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FB981"/>
                </a:solidFill>
                <a:latin typeface="Trebuchet MS"/>
                <a:ea typeface="Trebuchet MS"/>
                <a:cs typeface="Trebuchet MS"/>
                <a:sym typeface="Trebuchet MS"/>
              </a:rPr>
              <a:t>Great Fit</a:t>
            </a:r>
            <a:endParaRPr/>
          </a:p>
        </p:txBody>
      </p:sp>
      <p:sp>
        <p:nvSpPr>
          <p:cNvPr id="233" name="Google Shape;233;p11"/>
          <p:cNvSpPr txBox="1"/>
          <p:nvPr/>
        </p:nvSpPr>
        <p:spPr>
          <a:xfrm>
            <a:off x="822239" y="2297520"/>
            <a:ext cx="3201842" cy="1405368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-171000" lvl="0" marL="171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65468"/>
                </a:solidFill>
                <a:latin typeface="Calibri"/>
                <a:ea typeface="Calibri"/>
                <a:cs typeface="Calibri"/>
                <a:sym typeface="Calibri"/>
              </a:rPr>
              <a:t>Wholesaler, distributor, or manufacturer doing B2B sales</a:t>
            </a:r>
            <a:endParaRPr/>
          </a:p>
          <a:p>
            <a:pPr indent="-171000" lvl="0" marL="171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65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65468"/>
                </a:solidFill>
                <a:latin typeface="Calibri"/>
                <a:ea typeface="Calibri"/>
                <a:cs typeface="Calibri"/>
                <a:sym typeface="Calibri"/>
              </a:rPr>
              <a:t>Have inventory or brands you actively want to push</a:t>
            </a:r>
            <a:endParaRPr/>
          </a:p>
          <a:p>
            <a:pPr indent="-171000" lvl="0" marL="171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65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65468"/>
                </a:solidFill>
                <a:latin typeface="Calibri"/>
                <a:ea typeface="Calibri"/>
                <a:cs typeface="Calibri"/>
                <a:sym typeface="Calibri"/>
              </a:rPr>
              <a:t>Want to scale outbound without hiring</a:t>
            </a:r>
            <a:endParaRPr/>
          </a:p>
          <a:p>
            <a:pPr indent="-171000" lvl="0" marL="171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65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65468"/>
                </a:solidFill>
                <a:latin typeface="Calibri"/>
                <a:ea typeface="Calibri"/>
                <a:cs typeface="Calibri"/>
                <a:sym typeface="Calibri"/>
              </a:rPr>
              <a:t>Believe incremental revenue is worth automation</a:t>
            </a:r>
            <a:endParaRPr/>
          </a:p>
          <a:p>
            <a:pPr indent="-171000" lvl="0" marL="171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65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65468"/>
                </a:solidFill>
                <a:latin typeface="Calibri"/>
                <a:ea typeface="Calibri"/>
                <a:cs typeface="Calibri"/>
                <a:sym typeface="Calibri"/>
              </a:rPr>
              <a:t>Want visibility and control, not a black-box tool</a:t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4754879" y="1097280"/>
            <a:ext cx="3932281" cy="3566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4754879" y="1097280"/>
            <a:ext cx="3932281" cy="55081"/>
          </a:xfrm>
          <a:prstGeom prst="rect">
            <a:avLst/>
          </a:prstGeom>
          <a:solidFill>
            <a:srgbClr val="EF434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1"/>
          <p:cNvSpPr txBox="1"/>
          <p:nvPr/>
        </p:nvSpPr>
        <p:spPr>
          <a:xfrm>
            <a:off x="5074200" y="1375560"/>
            <a:ext cx="3293280" cy="35670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343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EF4343"/>
                </a:solidFill>
                <a:latin typeface="Trebuchet MS"/>
                <a:ea typeface="Trebuchet MS"/>
                <a:cs typeface="Trebuchet MS"/>
                <a:sym typeface="Trebuchet MS"/>
              </a:rPr>
              <a:t>Not a Fit</a:t>
            </a:r>
            <a:endParaRPr/>
          </a:p>
        </p:txBody>
      </p:sp>
      <p:sp>
        <p:nvSpPr>
          <p:cNvPr id="237" name="Google Shape;237;p11"/>
          <p:cNvSpPr txBox="1"/>
          <p:nvPr/>
        </p:nvSpPr>
        <p:spPr>
          <a:xfrm>
            <a:off x="5119919" y="2431079"/>
            <a:ext cx="3201842" cy="986269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-171000" lvl="0" marL="171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65468"/>
                </a:solidFill>
                <a:latin typeface="Calibri"/>
                <a:ea typeface="Calibri"/>
                <a:cs typeface="Calibri"/>
                <a:sym typeface="Calibri"/>
              </a:rPr>
              <a:t>Few SKUs, few long-term accounts</a:t>
            </a:r>
            <a:endParaRPr/>
          </a:p>
          <a:p>
            <a:pPr indent="-171000" lvl="0" marL="171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65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65468"/>
                </a:solidFill>
                <a:latin typeface="Calibri"/>
                <a:ea typeface="Calibri"/>
                <a:cs typeface="Calibri"/>
                <a:sym typeface="Calibri"/>
              </a:rPr>
              <a:t>Inbound-only, no outbound motion</a:t>
            </a:r>
            <a:endParaRPr/>
          </a:p>
          <a:p>
            <a:pPr indent="-171000" lvl="0" marL="171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65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65468"/>
                </a:solidFill>
                <a:latin typeface="Calibri"/>
                <a:ea typeface="Calibri"/>
                <a:cs typeface="Calibri"/>
                <a:sym typeface="Calibri"/>
              </a:rPr>
              <a:t>Want a CRM or email blast tool</a:t>
            </a:r>
            <a:endParaRPr/>
          </a:p>
          <a:p>
            <a:pPr indent="-171000" lvl="0" marL="171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65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65468"/>
                </a:solidFill>
                <a:latin typeface="Calibri"/>
                <a:ea typeface="Calibri"/>
                <a:cs typeface="Calibri"/>
                <a:sym typeface="Calibri"/>
              </a:rPr>
              <a:t>Leads-only, no sales motion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"/>
          <p:cNvSpPr txBox="1"/>
          <p:nvPr/>
        </p:nvSpPr>
        <p:spPr>
          <a:xfrm>
            <a:off x="685080" y="404999"/>
            <a:ext cx="7225201" cy="55990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83A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rPr>
              <a:t>Program &amp; Pricing</a:t>
            </a:r>
            <a:endParaRPr/>
          </a:p>
        </p:txBody>
      </p:sp>
      <p:sp>
        <p:nvSpPr>
          <p:cNvPr id="243" name="Google Shape;243;p12"/>
          <p:cNvSpPr/>
          <p:nvPr/>
        </p:nvSpPr>
        <p:spPr>
          <a:xfrm>
            <a:off x="457199" y="1097280"/>
            <a:ext cx="4572362" cy="3566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2"/>
          <p:cNvSpPr txBox="1"/>
          <p:nvPr/>
        </p:nvSpPr>
        <p:spPr>
          <a:xfrm>
            <a:off x="776519" y="1329839"/>
            <a:ext cx="3933361" cy="35670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83A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rPr>
              <a:t>Program Overview</a:t>
            </a:r>
            <a:endParaRPr/>
          </a:p>
        </p:txBody>
      </p:sp>
      <p:sp>
        <p:nvSpPr>
          <p:cNvPr id="245" name="Google Shape;245;p12"/>
          <p:cNvSpPr txBox="1"/>
          <p:nvPr/>
        </p:nvSpPr>
        <p:spPr>
          <a:xfrm>
            <a:off x="822239" y="2226599"/>
            <a:ext cx="3841922" cy="1580366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-181079" lvl="0" marL="18107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8"/>
              </a:buClr>
              <a:buSzPts val="540"/>
              <a:buFont typeface="Calibri"/>
              <a:buAutoNum type="arabicPeriod"/>
            </a:pPr>
            <a:r>
              <a:rPr b="0" i="0" lang="en-US" sz="1200" u="none" cap="none" strike="noStrike">
                <a:solidFill>
                  <a:srgbClr val="465468"/>
                </a:solidFill>
                <a:latin typeface="Calibri"/>
                <a:ea typeface="Calibri"/>
                <a:cs typeface="Calibri"/>
                <a:sym typeface="Calibri"/>
              </a:rPr>
              <a:t>Share inventory &amp; brand priorities</a:t>
            </a:r>
            <a:endParaRPr/>
          </a:p>
          <a:p>
            <a:pPr indent="-181079" lvl="0" marL="181079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65468"/>
              </a:buClr>
              <a:buSzPts val="540"/>
              <a:buFont typeface="Calibri"/>
              <a:buAutoNum type="arabicPeriod"/>
            </a:pPr>
            <a:r>
              <a:rPr b="0" i="0" lang="en-US" sz="1200" u="none" cap="none" strike="noStrike">
                <a:solidFill>
                  <a:srgbClr val="465468"/>
                </a:solidFill>
                <a:latin typeface="Calibri"/>
                <a:ea typeface="Calibri"/>
                <a:cs typeface="Calibri"/>
                <a:sym typeface="Calibri"/>
              </a:rPr>
              <a:t>Provide a target prospect list</a:t>
            </a:r>
            <a:endParaRPr/>
          </a:p>
          <a:p>
            <a:pPr indent="-181079" lvl="0" marL="181079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65468"/>
              </a:buClr>
              <a:buSzPts val="540"/>
              <a:buFont typeface="Calibri"/>
              <a:buAutoNum type="arabicPeriod"/>
            </a:pPr>
            <a:r>
              <a:rPr b="0" i="0" lang="en-US" sz="1200" u="none" cap="none" strike="noStrike">
                <a:solidFill>
                  <a:srgbClr val="465468"/>
                </a:solidFill>
                <a:latin typeface="Calibri"/>
                <a:ea typeface="Calibri"/>
                <a:cs typeface="Calibri"/>
                <a:sym typeface="Calibri"/>
              </a:rPr>
              <a:t>Set up an AI email address</a:t>
            </a:r>
            <a:endParaRPr/>
          </a:p>
          <a:p>
            <a:pPr indent="-181079" lvl="0" marL="181079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65468"/>
              </a:buClr>
              <a:buSzPts val="540"/>
              <a:buFont typeface="Calibri"/>
              <a:buAutoNum type="arabicPeriod"/>
            </a:pPr>
            <a:r>
              <a:rPr b="0" i="0" lang="en-US" sz="1200" u="none" cap="none" strike="noStrike">
                <a:solidFill>
                  <a:srgbClr val="465468"/>
                </a:solidFill>
                <a:latin typeface="Calibri"/>
                <a:ea typeface="Calibri"/>
                <a:cs typeface="Calibri"/>
                <a:sym typeface="Calibri"/>
              </a:rPr>
              <a:t>Opsa deploys your AI agent</a:t>
            </a:r>
            <a:endParaRPr/>
          </a:p>
          <a:p>
            <a:pPr indent="-181079" lvl="0" marL="181079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65468"/>
              </a:buClr>
              <a:buSzPts val="540"/>
              <a:buFont typeface="Calibri"/>
              <a:buAutoNum type="arabicPeriod"/>
            </a:pPr>
            <a:r>
              <a:rPr b="0" i="0" lang="en-US" sz="1200" u="none" cap="none" strike="noStrike">
                <a:solidFill>
                  <a:srgbClr val="465468"/>
                </a:solidFill>
                <a:latin typeface="Calibri"/>
                <a:ea typeface="Calibri"/>
                <a:cs typeface="Calibri"/>
                <a:sym typeface="Calibri"/>
              </a:rPr>
              <a:t>Reps take over to close deals</a:t>
            </a:r>
            <a:endParaRPr/>
          </a:p>
          <a:p>
            <a:pPr indent="-181079" lvl="0" marL="181079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65468"/>
              </a:buClr>
              <a:buSzPts val="540"/>
              <a:buFont typeface="Calibri"/>
              <a:buAutoNum type="arabicPeriod"/>
            </a:pPr>
            <a:r>
              <a:rPr b="0" i="0" lang="en-US" sz="1200" u="none" cap="none" strike="noStrike">
                <a:solidFill>
                  <a:srgbClr val="465468"/>
                </a:solidFill>
                <a:latin typeface="Calibri"/>
                <a:ea typeface="Calibri"/>
                <a:cs typeface="Calibri"/>
                <a:sym typeface="Calibri"/>
              </a:rPr>
              <a:t>Track incremental revenue</a:t>
            </a:r>
            <a:endParaRPr/>
          </a:p>
        </p:txBody>
      </p:sp>
      <p:sp>
        <p:nvSpPr>
          <p:cNvPr id="246" name="Google Shape;246;p12"/>
          <p:cNvSpPr/>
          <p:nvPr/>
        </p:nvSpPr>
        <p:spPr>
          <a:xfrm>
            <a:off x="5303520" y="1097280"/>
            <a:ext cx="3383641" cy="3612241"/>
          </a:xfrm>
          <a:prstGeom prst="rect">
            <a:avLst/>
          </a:prstGeom>
          <a:solidFill>
            <a:srgbClr val="0E1A3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2"/>
          <p:cNvSpPr txBox="1"/>
          <p:nvPr/>
        </p:nvSpPr>
        <p:spPr>
          <a:xfrm>
            <a:off x="5622840" y="1408320"/>
            <a:ext cx="2744641" cy="38210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Pricing</a:t>
            </a:r>
            <a:endParaRPr/>
          </a:p>
        </p:txBody>
      </p:sp>
      <p:sp>
        <p:nvSpPr>
          <p:cNvPr id="248" name="Google Shape;248;p12"/>
          <p:cNvSpPr txBox="1"/>
          <p:nvPr/>
        </p:nvSpPr>
        <p:spPr>
          <a:xfrm>
            <a:off x="5622840" y="1978919"/>
            <a:ext cx="2744641" cy="246866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First month</a:t>
            </a:r>
            <a:endParaRPr/>
          </a:p>
        </p:txBody>
      </p:sp>
      <p:sp>
        <p:nvSpPr>
          <p:cNvPr id="249" name="Google Shape;249;p12"/>
          <p:cNvSpPr txBox="1"/>
          <p:nvPr/>
        </p:nvSpPr>
        <p:spPr>
          <a:xfrm>
            <a:off x="5622840" y="2156399"/>
            <a:ext cx="2744641" cy="62340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B981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0FB981"/>
                </a:solidFill>
                <a:latin typeface="Trebuchet MS"/>
                <a:ea typeface="Trebuchet MS"/>
                <a:cs typeface="Trebuchet MS"/>
                <a:sym typeface="Trebuchet MS"/>
              </a:rPr>
              <a:t>FREE</a:t>
            </a:r>
            <a:endParaRPr/>
          </a:p>
        </p:txBody>
      </p:sp>
      <p:sp>
        <p:nvSpPr>
          <p:cNvPr id="250" name="Google Shape;250;p12"/>
          <p:cNvSpPr/>
          <p:nvPr/>
        </p:nvSpPr>
        <p:spPr>
          <a:xfrm>
            <a:off x="5760720" y="2788920"/>
            <a:ext cx="2469241" cy="18721"/>
          </a:xfrm>
          <a:prstGeom prst="rect">
            <a:avLst/>
          </a:prstGeom>
          <a:solidFill>
            <a:srgbClr val="CADCFC">
              <a:alpha val="4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2"/>
          <p:cNvSpPr txBox="1"/>
          <p:nvPr/>
        </p:nvSpPr>
        <p:spPr>
          <a:xfrm>
            <a:off x="5622840" y="3030479"/>
            <a:ext cx="2744641" cy="246866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After trial</a:t>
            </a:r>
            <a:endParaRPr/>
          </a:p>
        </p:txBody>
      </p:sp>
      <p:sp>
        <p:nvSpPr>
          <p:cNvPr id="252" name="Google Shape;252;p12"/>
          <p:cNvSpPr txBox="1"/>
          <p:nvPr/>
        </p:nvSpPr>
        <p:spPr>
          <a:xfrm>
            <a:off x="5622840" y="3252599"/>
            <a:ext cx="2744641" cy="53450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$2,000/mo</a:t>
            </a:r>
            <a:endParaRPr/>
          </a:p>
        </p:txBody>
      </p:sp>
      <p:sp>
        <p:nvSpPr>
          <p:cNvPr id="253" name="Google Shape;253;p12"/>
          <p:cNvSpPr txBox="1"/>
          <p:nvPr/>
        </p:nvSpPr>
        <p:spPr>
          <a:xfrm>
            <a:off x="5622840" y="3917879"/>
            <a:ext cx="2744641" cy="392172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Only if AI generates $20K+ in incremental sales.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Otherwise, it's free.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cbacdd6c32_0_102"/>
          <p:cNvSpPr txBox="1"/>
          <p:nvPr/>
        </p:nvSpPr>
        <p:spPr>
          <a:xfrm>
            <a:off x="548640" y="365760"/>
            <a:ext cx="8046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rPr>
              <a:t>Your 90-Day Pilot Plan</a:t>
            </a:r>
            <a:endParaRPr/>
          </a:p>
        </p:txBody>
      </p:sp>
      <p:sp>
        <p:nvSpPr>
          <p:cNvPr id="259" name="Google Shape;259;g3cbacdd6c32_0_102"/>
          <p:cNvSpPr txBox="1"/>
          <p:nvPr/>
        </p:nvSpPr>
        <p:spPr>
          <a:xfrm>
            <a:off x="548640" y="868680"/>
            <a:ext cx="7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From setup to results in 12 weeks</a:t>
            </a:r>
            <a:endParaRPr/>
          </a:p>
        </p:txBody>
      </p:sp>
      <p:sp>
        <p:nvSpPr>
          <p:cNvPr id="260" name="Google Shape;260;g3cbacdd6c32_0_102"/>
          <p:cNvSpPr/>
          <p:nvPr/>
        </p:nvSpPr>
        <p:spPr>
          <a:xfrm>
            <a:off x="502920" y="1371600"/>
            <a:ext cx="2560200" cy="2103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cbacdd6c32_0_102"/>
          <p:cNvSpPr/>
          <p:nvPr/>
        </p:nvSpPr>
        <p:spPr>
          <a:xfrm>
            <a:off x="502920" y="1371600"/>
            <a:ext cx="2560200" cy="54900"/>
          </a:xfrm>
          <a:prstGeom prst="rect">
            <a:avLst/>
          </a:prstGeom>
          <a:solidFill>
            <a:srgbClr val="3A82F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cbacdd6c32_0_102"/>
          <p:cNvSpPr txBox="1"/>
          <p:nvPr/>
        </p:nvSpPr>
        <p:spPr>
          <a:xfrm>
            <a:off x="685800" y="1554480"/>
            <a:ext cx="2194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rPr>
              <a:t>Week 1–2</a:t>
            </a:r>
            <a:endParaRPr/>
          </a:p>
        </p:txBody>
      </p:sp>
      <p:sp>
        <p:nvSpPr>
          <p:cNvPr id="263" name="Google Shape;263;g3cbacdd6c32_0_102"/>
          <p:cNvSpPr txBox="1"/>
          <p:nvPr/>
        </p:nvSpPr>
        <p:spPr>
          <a:xfrm>
            <a:off x="685800" y="1828800"/>
            <a:ext cx="219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rPr>
              <a:t>Setup &amp; Integration</a:t>
            </a:r>
            <a:endParaRPr/>
          </a:p>
        </p:txBody>
      </p:sp>
      <p:sp>
        <p:nvSpPr>
          <p:cNvPr id="264" name="Google Shape;264;g3cbacdd6c32_0_102"/>
          <p:cNvSpPr txBox="1"/>
          <p:nvPr/>
        </p:nvSpPr>
        <p:spPr>
          <a:xfrm>
            <a:off x="685800" y="2240280"/>
            <a:ext cx="2194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Connect ERP data, inventory feeds,</a:t>
            </a:r>
            <a:b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and buyer lists. Configure pricing</a:t>
            </a:r>
            <a:b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rules and margin guardrails.</a:t>
            </a:r>
            <a:endParaRPr/>
          </a:p>
        </p:txBody>
      </p:sp>
      <p:sp>
        <p:nvSpPr>
          <p:cNvPr id="265" name="Google Shape;265;g3cbacdd6c32_0_102"/>
          <p:cNvSpPr txBox="1"/>
          <p:nvPr/>
        </p:nvSpPr>
        <p:spPr>
          <a:xfrm>
            <a:off x="3108959" y="2286000"/>
            <a:ext cx="18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66" name="Google Shape;266;g3cbacdd6c32_0_102"/>
          <p:cNvSpPr/>
          <p:nvPr/>
        </p:nvSpPr>
        <p:spPr>
          <a:xfrm>
            <a:off x="3337559" y="1371600"/>
            <a:ext cx="2560200" cy="2103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cbacdd6c32_0_102"/>
          <p:cNvSpPr/>
          <p:nvPr/>
        </p:nvSpPr>
        <p:spPr>
          <a:xfrm>
            <a:off x="3337559" y="1371600"/>
            <a:ext cx="2560200" cy="54900"/>
          </a:xfrm>
          <a:prstGeom prst="rect">
            <a:avLst/>
          </a:prstGeom>
          <a:solidFill>
            <a:srgbClr val="0FB98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cbacdd6c32_0_102"/>
          <p:cNvSpPr txBox="1"/>
          <p:nvPr/>
        </p:nvSpPr>
        <p:spPr>
          <a:xfrm>
            <a:off x="3520439" y="1554480"/>
            <a:ext cx="2194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B981"/>
                </a:solidFill>
                <a:latin typeface="Trebuchet MS"/>
                <a:ea typeface="Trebuchet MS"/>
                <a:cs typeface="Trebuchet MS"/>
                <a:sym typeface="Trebuchet MS"/>
              </a:rPr>
              <a:t>Week 3–4</a:t>
            </a:r>
            <a:endParaRPr/>
          </a:p>
        </p:txBody>
      </p:sp>
      <p:sp>
        <p:nvSpPr>
          <p:cNvPr id="269" name="Google Shape;269;g3cbacdd6c32_0_102"/>
          <p:cNvSpPr txBox="1"/>
          <p:nvPr/>
        </p:nvSpPr>
        <p:spPr>
          <a:xfrm>
            <a:off x="3520439" y="1828800"/>
            <a:ext cx="219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rPr>
              <a:t>Agent Training</a:t>
            </a:r>
            <a:endParaRPr/>
          </a:p>
        </p:txBody>
      </p:sp>
      <p:sp>
        <p:nvSpPr>
          <p:cNvPr id="270" name="Google Shape;270;g3cbacdd6c32_0_102"/>
          <p:cNvSpPr txBox="1"/>
          <p:nvPr/>
        </p:nvSpPr>
        <p:spPr>
          <a:xfrm>
            <a:off x="3520439" y="2240280"/>
            <a:ext cx="2194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Opsa learns your buyer base,</a:t>
            </a:r>
            <a:b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SKU catalog, and deal patterns.</a:t>
            </a:r>
            <a:b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First outbound campaigns launch.</a:t>
            </a:r>
            <a:endParaRPr/>
          </a:p>
        </p:txBody>
      </p:sp>
      <p:sp>
        <p:nvSpPr>
          <p:cNvPr id="271" name="Google Shape;271;g3cbacdd6c32_0_102"/>
          <p:cNvSpPr txBox="1"/>
          <p:nvPr/>
        </p:nvSpPr>
        <p:spPr>
          <a:xfrm>
            <a:off x="5943599" y="2286000"/>
            <a:ext cx="18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72" name="Google Shape;272;g3cbacdd6c32_0_102"/>
          <p:cNvSpPr/>
          <p:nvPr/>
        </p:nvSpPr>
        <p:spPr>
          <a:xfrm>
            <a:off x="6172199" y="1371600"/>
            <a:ext cx="2560200" cy="2103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cbacdd6c32_0_102"/>
          <p:cNvSpPr/>
          <p:nvPr/>
        </p:nvSpPr>
        <p:spPr>
          <a:xfrm>
            <a:off x="6172199" y="1371600"/>
            <a:ext cx="2560200" cy="5490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3cbacdd6c32_0_102"/>
          <p:cNvSpPr txBox="1"/>
          <p:nvPr/>
        </p:nvSpPr>
        <p:spPr>
          <a:xfrm>
            <a:off x="6355079" y="1554480"/>
            <a:ext cx="2194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B5CF6"/>
                </a:solidFill>
                <a:latin typeface="Trebuchet MS"/>
                <a:ea typeface="Trebuchet MS"/>
                <a:cs typeface="Trebuchet MS"/>
                <a:sym typeface="Trebuchet MS"/>
              </a:rPr>
              <a:t>Week 5–12</a:t>
            </a:r>
            <a:endParaRPr/>
          </a:p>
        </p:txBody>
      </p:sp>
      <p:sp>
        <p:nvSpPr>
          <p:cNvPr id="275" name="Google Shape;275;g3cbacdd6c32_0_102"/>
          <p:cNvSpPr txBox="1"/>
          <p:nvPr/>
        </p:nvSpPr>
        <p:spPr>
          <a:xfrm>
            <a:off x="6355079" y="1828800"/>
            <a:ext cx="219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rPr>
              <a:t>Live &amp; Optimize</a:t>
            </a:r>
            <a:endParaRPr/>
          </a:p>
        </p:txBody>
      </p:sp>
      <p:sp>
        <p:nvSpPr>
          <p:cNvPr id="276" name="Google Shape;276;g3cbacdd6c32_0_102"/>
          <p:cNvSpPr txBox="1"/>
          <p:nvPr/>
        </p:nvSpPr>
        <p:spPr>
          <a:xfrm>
            <a:off x="6355079" y="2240280"/>
            <a:ext cx="2194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AI runs outbound in parallel with</a:t>
            </a:r>
            <a:b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your team. Weekly check-ins.</a:t>
            </a:r>
            <a:b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Continuous optimization.</a:t>
            </a:r>
            <a:endParaRPr/>
          </a:p>
        </p:txBody>
      </p:sp>
      <p:sp>
        <p:nvSpPr>
          <p:cNvPr id="277" name="Google Shape;277;g3cbacdd6c32_0_102"/>
          <p:cNvSpPr txBox="1"/>
          <p:nvPr/>
        </p:nvSpPr>
        <p:spPr>
          <a:xfrm>
            <a:off x="548640" y="3749039"/>
            <a:ext cx="804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rPr>
              <a:t>What we need from you: 1 point of contact, ERP access, and a target buyer list. We handle the rest.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"/>
          <p:cNvSpPr/>
          <p:nvPr/>
        </p:nvSpPr>
        <p:spPr>
          <a:xfrm>
            <a:off x="6858179" y="-731701"/>
            <a:ext cx="3657512" cy="3657872"/>
          </a:xfrm>
          <a:custGeom>
            <a:rect b="b" l="l" r="r" t="t"/>
            <a:pathLst>
              <a:path extrusionOk="0" h="19680" w="19680">
                <a:moveTo>
                  <a:pt x="16799" y="2879"/>
                </a:moveTo>
                <a:cubicBezTo>
                  <a:pt x="20640" y="6724"/>
                  <a:pt x="20640" y="12956"/>
                  <a:pt x="16799" y="16799"/>
                </a:cubicBezTo>
                <a:cubicBezTo>
                  <a:pt x="12956" y="20640"/>
                  <a:pt x="6722" y="20640"/>
                  <a:pt x="2879" y="16799"/>
                </a:cubicBezTo>
                <a:cubicBezTo>
                  <a:pt x="-960" y="12956"/>
                  <a:pt x="-960" y="6724"/>
                  <a:pt x="2879" y="2879"/>
                </a:cubicBezTo>
                <a:cubicBezTo>
                  <a:pt x="6722" y="-960"/>
                  <a:pt x="12956" y="-960"/>
                  <a:pt x="16799" y="2879"/>
                </a:cubicBezTo>
                <a:close/>
              </a:path>
            </a:pathLst>
          </a:custGeom>
          <a:solidFill>
            <a:srgbClr val="3A82F6">
              <a:alpha val="7843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-1371780" y="3200579"/>
            <a:ext cx="2743471" cy="2743111"/>
          </a:xfrm>
          <a:custGeom>
            <a:rect b="b" l="l" r="r" t="t"/>
            <a:pathLst>
              <a:path extrusionOk="0" h="19680" w="19681">
                <a:moveTo>
                  <a:pt x="16801" y="2878"/>
                </a:moveTo>
                <a:cubicBezTo>
                  <a:pt x="20641" y="6721"/>
                  <a:pt x="20641" y="12956"/>
                  <a:pt x="16801" y="16799"/>
                </a:cubicBezTo>
                <a:cubicBezTo>
                  <a:pt x="12958" y="20640"/>
                  <a:pt x="6721" y="20640"/>
                  <a:pt x="2879" y="16799"/>
                </a:cubicBezTo>
                <a:cubicBezTo>
                  <a:pt x="-959" y="12956"/>
                  <a:pt x="-959" y="6721"/>
                  <a:pt x="2879" y="2878"/>
                </a:cubicBezTo>
                <a:cubicBezTo>
                  <a:pt x="6721" y="-960"/>
                  <a:pt x="12958" y="-960"/>
                  <a:pt x="16801" y="2878"/>
                </a:cubicBezTo>
                <a:close/>
              </a:path>
            </a:pathLst>
          </a:custGeom>
          <a:solidFill>
            <a:srgbClr val="CADCFC">
              <a:alpha val="5882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28.png" id="284" name="Google Shape;28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3359" y="1097280"/>
            <a:ext cx="1097281" cy="1097281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3"/>
          <p:cNvSpPr txBox="1"/>
          <p:nvPr/>
        </p:nvSpPr>
        <p:spPr>
          <a:xfrm>
            <a:off x="959399" y="2169720"/>
            <a:ext cx="7225202" cy="123681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Excited About Our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Upcoming Partnership</a:t>
            </a:r>
            <a:endParaRPr/>
          </a:p>
        </p:txBody>
      </p:sp>
      <p:sp>
        <p:nvSpPr>
          <p:cNvPr id="286" name="Google Shape;286;p13"/>
          <p:cNvSpPr/>
          <p:nvPr/>
        </p:nvSpPr>
        <p:spPr>
          <a:xfrm>
            <a:off x="3657599" y="3566159"/>
            <a:ext cx="1829162" cy="55081"/>
          </a:xfrm>
          <a:prstGeom prst="rect">
            <a:avLst/>
          </a:prstGeom>
          <a:solidFill>
            <a:srgbClr val="3A82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3"/>
          <p:cNvSpPr txBox="1"/>
          <p:nvPr/>
        </p:nvSpPr>
        <p:spPr>
          <a:xfrm>
            <a:off x="1873799" y="3918599"/>
            <a:ext cx="5396402" cy="299155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Let's grow your revenue together.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7"/>
          <p:cNvSpPr txBox="1"/>
          <p:nvPr/>
        </p:nvSpPr>
        <p:spPr>
          <a:xfrm>
            <a:off x="610560" y="299879"/>
            <a:ext cx="7225201" cy="55990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83A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rPr>
              <a:t>Sales and Admin Dashboard</a:t>
            </a:r>
            <a:endParaRPr/>
          </a:p>
        </p:txBody>
      </p:sp>
      <p:sp>
        <p:nvSpPr>
          <p:cNvPr id="293" name="Google Shape;293;p7"/>
          <p:cNvSpPr txBox="1"/>
          <p:nvPr/>
        </p:nvSpPr>
        <p:spPr>
          <a:xfrm>
            <a:off x="640440" y="882719"/>
            <a:ext cx="7225201" cy="279360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65468"/>
                </a:solidFill>
                <a:latin typeface="Calibri"/>
                <a:ea typeface="Calibri"/>
                <a:cs typeface="Calibri"/>
                <a:sym typeface="Calibri"/>
              </a:rPr>
              <a:t>Full visibility into every conversation</a:t>
            </a:r>
            <a:endParaRPr/>
          </a:p>
        </p:txBody>
      </p:sp>
      <p:sp>
        <p:nvSpPr>
          <p:cNvPr id="294" name="Google Shape;294;p7"/>
          <p:cNvSpPr/>
          <p:nvPr/>
        </p:nvSpPr>
        <p:spPr>
          <a:xfrm>
            <a:off x="457199" y="1417319"/>
            <a:ext cx="3932282" cy="13719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457200" y="1417319"/>
            <a:ext cx="64440" cy="1371962"/>
          </a:xfrm>
          <a:prstGeom prst="rect">
            <a:avLst/>
          </a:prstGeom>
          <a:solidFill>
            <a:srgbClr val="3A82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20.png" id="296" name="Google Shape;29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19" y="1737360"/>
            <a:ext cx="457201" cy="457201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7"/>
          <p:cNvSpPr txBox="1"/>
          <p:nvPr/>
        </p:nvSpPr>
        <p:spPr>
          <a:xfrm>
            <a:off x="1416599" y="1652399"/>
            <a:ext cx="2653202" cy="30590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83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rPr>
              <a:t>Pending Actions </a:t>
            </a:r>
            <a:endParaRPr/>
          </a:p>
        </p:txBody>
      </p:sp>
      <p:sp>
        <p:nvSpPr>
          <p:cNvPr id="298" name="Google Shape;298;p7"/>
          <p:cNvSpPr txBox="1"/>
          <p:nvPr/>
        </p:nvSpPr>
        <p:spPr>
          <a:xfrm>
            <a:off x="1416599" y="2008079"/>
            <a:ext cx="2653202" cy="224269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65468"/>
                </a:solidFill>
                <a:latin typeface="Calibri"/>
                <a:ea typeface="Calibri"/>
                <a:cs typeface="Calibri"/>
                <a:sym typeface="Calibri"/>
              </a:rPr>
              <a:t>All AI-assigned threads in one view</a:t>
            </a:r>
            <a:endParaRPr/>
          </a:p>
        </p:txBody>
      </p:sp>
      <p:sp>
        <p:nvSpPr>
          <p:cNvPr id="299" name="Google Shape;299;p7"/>
          <p:cNvSpPr/>
          <p:nvPr/>
        </p:nvSpPr>
        <p:spPr>
          <a:xfrm>
            <a:off x="4663440" y="1417319"/>
            <a:ext cx="3932281" cy="13719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4663440" y="1417319"/>
            <a:ext cx="64441" cy="1371962"/>
          </a:xfrm>
          <a:prstGeom prst="rect">
            <a:avLst/>
          </a:prstGeom>
          <a:solidFill>
            <a:srgbClr val="3A82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21.png" id="301" name="Google Shape;3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7759" y="1737360"/>
            <a:ext cx="457201" cy="457201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7"/>
          <p:cNvSpPr txBox="1"/>
          <p:nvPr/>
        </p:nvSpPr>
        <p:spPr>
          <a:xfrm>
            <a:off x="5622840" y="1652399"/>
            <a:ext cx="2653201" cy="30590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83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rPr>
              <a:t>Approval Workflows</a:t>
            </a:r>
            <a:endParaRPr/>
          </a:p>
        </p:txBody>
      </p:sp>
      <p:sp>
        <p:nvSpPr>
          <p:cNvPr id="303" name="Google Shape;303;p7"/>
          <p:cNvSpPr txBox="1"/>
          <p:nvPr/>
        </p:nvSpPr>
        <p:spPr>
          <a:xfrm>
            <a:off x="5622840" y="2008079"/>
            <a:ext cx="2653201" cy="224269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65468"/>
                </a:solidFill>
                <a:latin typeface="Calibri"/>
                <a:ea typeface="Calibri"/>
                <a:cs typeface="Calibri"/>
                <a:sym typeface="Calibri"/>
              </a:rPr>
              <a:t>Admin approval for high-value exceptions</a:t>
            </a:r>
            <a:endParaRPr/>
          </a:p>
        </p:txBody>
      </p:sp>
      <p:sp>
        <p:nvSpPr>
          <p:cNvPr id="304" name="Google Shape;304;p7"/>
          <p:cNvSpPr/>
          <p:nvPr/>
        </p:nvSpPr>
        <p:spPr>
          <a:xfrm>
            <a:off x="457199" y="3063239"/>
            <a:ext cx="3932282" cy="13719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457200" y="3063239"/>
            <a:ext cx="64440" cy="1371961"/>
          </a:xfrm>
          <a:prstGeom prst="rect">
            <a:avLst/>
          </a:prstGeom>
          <a:solidFill>
            <a:srgbClr val="3A82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22.png" id="306" name="Google Shape;30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19" y="3383279"/>
            <a:ext cx="457201" cy="457201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7"/>
          <p:cNvSpPr txBox="1"/>
          <p:nvPr/>
        </p:nvSpPr>
        <p:spPr>
          <a:xfrm>
            <a:off x="1416599" y="3298319"/>
            <a:ext cx="2653202" cy="30590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83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rPr>
              <a:t>Actionable Insights </a:t>
            </a:r>
            <a:endParaRPr/>
          </a:p>
        </p:txBody>
      </p:sp>
      <p:sp>
        <p:nvSpPr>
          <p:cNvPr id="308" name="Google Shape;308;p7"/>
          <p:cNvSpPr txBox="1"/>
          <p:nvPr/>
        </p:nvSpPr>
        <p:spPr>
          <a:xfrm>
            <a:off x="1416599" y="3653999"/>
            <a:ext cx="2653202" cy="224269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65468"/>
                </a:solidFill>
                <a:latin typeface="Calibri"/>
                <a:ea typeface="Calibri"/>
                <a:cs typeface="Calibri"/>
                <a:sym typeface="Calibri"/>
              </a:rPr>
              <a:t>Deal velocity and bottleneck tracking</a:t>
            </a:r>
            <a:endParaRPr/>
          </a:p>
        </p:txBody>
      </p:sp>
      <p:sp>
        <p:nvSpPr>
          <p:cNvPr id="309" name="Google Shape;309;p7"/>
          <p:cNvSpPr/>
          <p:nvPr/>
        </p:nvSpPr>
        <p:spPr>
          <a:xfrm>
            <a:off x="4663440" y="3063239"/>
            <a:ext cx="3932281" cy="13719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7"/>
          <p:cNvSpPr/>
          <p:nvPr/>
        </p:nvSpPr>
        <p:spPr>
          <a:xfrm>
            <a:off x="4663440" y="3063239"/>
            <a:ext cx="64441" cy="1371961"/>
          </a:xfrm>
          <a:prstGeom prst="rect">
            <a:avLst/>
          </a:prstGeom>
          <a:solidFill>
            <a:srgbClr val="3A82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23.png" id="311" name="Google Shape;31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37759" y="3383279"/>
            <a:ext cx="457201" cy="457201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7"/>
          <p:cNvSpPr txBox="1"/>
          <p:nvPr/>
        </p:nvSpPr>
        <p:spPr>
          <a:xfrm>
            <a:off x="5622840" y="3298319"/>
            <a:ext cx="2653201" cy="30590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83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rPr>
              <a:t>Engagements Metrics</a:t>
            </a:r>
            <a:endParaRPr/>
          </a:p>
        </p:txBody>
      </p:sp>
      <p:sp>
        <p:nvSpPr>
          <p:cNvPr id="313" name="Google Shape;313;p7"/>
          <p:cNvSpPr txBox="1"/>
          <p:nvPr/>
        </p:nvSpPr>
        <p:spPr>
          <a:xfrm>
            <a:off x="5622840" y="3736440"/>
            <a:ext cx="2653201" cy="224268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73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rPr>
              <a:t>Performance by brand, customer, and offer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8"/>
          <p:cNvSpPr txBox="1"/>
          <p:nvPr/>
        </p:nvSpPr>
        <p:spPr>
          <a:xfrm>
            <a:off x="502199" y="219959"/>
            <a:ext cx="8139602" cy="39103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8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rPr>
              <a:t>Pending Action Dashboard</a:t>
            </a:r>
            <a:endParaRPr/>
          </a:p>
        </p:txBody>
      </p:sp>
      <p:sp>
        <p:nvSpPr>
          <p:cNvPr id="319" name="Google Shape;319;p8"/>
          <p:cNvSpPr txBox="1"/>
          <p:nvPr/>
        </p:nvSpPr>
        <p:spPr>
          <a:xfrm>
            <a:off x="502199" y="595800"/>
            <a:ext cx="8139602" cy="224268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65468"/>
                </a:solidFill>
                <a:latin typeface="Calibri"/>
                <a:ea typeface="Calibri"/>
                <a:cs typeface="Calibri"/>
                <a:sym typeface="Calibri"/>
              </a:rPr>
              <a:t>Real time visibility to all the pending threads that allows you to jump in or take over the thread any time</a:t>
            </a:r>
            <a:endParaRPr/>
          </a:p>
        </p:txBody>
      </p:sp>
      <p:pic>
        <p:nvPicPr>
          <p:cNvPr descr="image24.png" id="320" name="Google Shape;32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960" y="1001160"/>
            <a:ext cx="5372280" cy="32788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25.png" id="321" name="Google Shape;32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6440" y="1344240"/>
            <a:ext cx="3090241" cy="251820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8"/>
          <p:cNvSpPr/>
          <p:nvPr/>
        </p:nvSpPr>
        <p:spPr>
          <a:xfrm>
            <a:off x="5514840" y="2402639"/>
            <a:ext cx="425161" cy="267481"/>
          </a:xfrm>
          <a:custGeom>
            <a:rect b="b" l="l" r="r" t="t"/>
            <a:pathLst>
              <a:path extrusionOk="0" h="21600" w="21600">
                <a:moveTo>
                  <a:pt x="0" y="16222"/>
                </a:moveTo>
                <a:lnTo>
                  <a:pt x="14815" y="16222"/>
                </a:lnTo>
                <a:lnTo>
                  <a:pt x="14815" y="21600"/>
                </a:lnTo>
                <a:lnTo>
                  <a:pt x="21600" y="10785"/>
                </a:lnTo>
                <a:lnTo>
                  <a:pt x="14815" y="0"/>
                </a:lnTo>
                <a:lnTo>
                  <a:pt x="14815" y="5378"/>
                </a:lnTo>
                <a:lnTo>
                  <a:pt x="0" y="5378"/>
                </a:lnTo>
                <a:lnTo>
                  <a:pt x="0" y="16222"/>
                </a:lnTo>
                <a:close/>
              </a:path>
            </a:pathLst>
          </a:custGeom>
          <a:solidFill>
            <a:srgbClr val="525252"/>
          </a:solidFill>
          <a:ln cap="flat" cmpd="sng" w="9525">
            <a:solidFill>
              <a:srgbClr val="A7A7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9"/>
          <p:cNvSpPr txBox="1"/>
          <p:nvPr/>
        </p:nvSpPr>
        <p:spPr>
          <a:xfrm>
            <a:off x="502199" y="219959"/>
            <a:ext cx="8139602" cy="39103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8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rPr>
              <a:t>Actionable Insights</a:t>
            </a:r>
            <a:endParaRPr/>
          </a:p>
        </p:txBody>
      </p:sp>
      <p:sp>
        <p:nvSpPr>
          <p:cNvPr id="328" name="Google Shape;328;p9"/>
          <p:cNvSpPr txBox="1"/>
          <p:nvPr/>
        </p:nvSpPr>
        <p:spPr>
          <a:xfrm>
            <a:off x="502199" y="595800"/>
            <a:ext cx="8139602" cy="224268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73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rPr>
              <a:t>Insights on deal velocity, bottlenecks, and AI-driven optimization opportunities.</a:t>
            </a:r>
            <a:endParaRPr/>
          </a:p>
        </p:txBody>
      </p:sp>
      <p:pic>
        <p:nvPicPr>
          <p:cNvPr descr="image26.png" id="329" name="Google Shape;32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480" y="771840"/>
            <a:ext cx="6603480" cy="4246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