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IopKIUYt7vvIx6EANhF6d58qR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7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5"/>
          <p:cNvSpPr/>
          <p:nvPr>
            <p:ph idx="2" type="pic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5"/>
          <p:cNvSpPr txBox="1"/>
          <p:nvPr>
            <p:ph idx="1" type="body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57200" y="457198"/>
            <a:ext cx="54864" cy="3657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640078" y="320040"/>
            <a:ext cx="4480563" cy="1018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OPSA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640078" y="1143000"/>
            <a:ext cx="6309363" cy="38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Agentic Commerce for B2B, Starting with Wholesale</a:t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594359" y="1691638"/>
            <a:ext cx="3200402" cy="3657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640078" y="4389121"/>
            <a:ext cx="3566163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Seed Round  |  Confidential  |  2026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6858000" y="274319"/>
            <a:ext cx="457200" cy="548643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7178040" y="1005838"/>
            <a:ext cx="411482" cy="64008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498077" y="1828800"/>
            <a:ext cx="502920" cy="4572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7818118" y="2926078"/>
            <a:ext cx="438914" cy="59436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594359" y="365759"/>
            <a:ext cx="3566162" cy="228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INSIGHT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594360" y="914400"/>
            <a:ext cx="7680960" cy="612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ERP records transactions.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594360" y="1645921"/>
            <a:ext cx="7680960" cy="612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It doesn't drive them.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48639" y="2514599"/>
            <a:ext cx="3657603" cy="3657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594360" y="2651761"/>
            <a:ext cx="7680960" cy="73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B2B commerce is still manual — transactions happen over email, spreadsheets, and ERPs that don't make decisions. The next evolution is agentic: autonomous AI agents that perceive demand, decide what to sell, and execute transactions end-to-end.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502918" y="274320"/>
            <a:ext cx="8138164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Wholesale Sales Is Running on Manual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65760" y="1005838"/>
            <a:ext cx="3840480" cy="155448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58" y="1005838"/>
            <a:ext cx="54866" cy="155448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48638" y="1143000"/>
            <a:ext cx="3474722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Sales Lives in the Inbox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548638" y="1508761"/>
            <a:ext cx="3474722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Quotes, pricing, and negotiations buried in email and WhatsApp. No system of record, no intelligence layer.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892040" y="1005838"/>
            <a:ext cx="3840482" cy="155448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92040" y="1005838"/>
            <a:ext cx="54866" cy="155448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074918" y="1143000"/>
            <a:ext cx="3474721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Selling Doesn't Scale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5074918" y="1508761"/>
            <a:ext cx="3474721" cy="62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demand spikes, reps bottleneck. Manual quoting and ad-hoc follow-ups lead to slow responses and lost deals.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2743199"/>
            <a:ext cx="3840480" cy="155448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58" y="2743199"/>
            <a:ext cx="54866" cy="155448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548638" y="2880361"/>
            <a:ext cx="3474722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Revenue Driven by Memory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548638" y="3246121"/>
            <a:ext cx="3474722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Upsells rely on tribal knowledge. Inventory sits idle while buyers receive generic offers.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892040" y="2743199"/>
            <a:ext cx="3840482" cy="155448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92040" y="2743199"/>
            <a:ext cx="54866" cy="155448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5074918" y="2880361"/>
            <a:ext cx="3474721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Margin Leaks at Every Step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5074918" y="3246121"/>
            <a:ext cx="3474721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Pricing rules applied inconsistently. ERPs exist — but there is no revenue operating system.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94359" y="274321"/>
            <a:ext cx="3566162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594360" y="594360"/>
            <a:ext cx="7680960" cy="472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Technology Window Is Open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57200" y="1554478"/>
            <a:ext cx="2377440" cy="2560323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1554480"/>
            <a:ext cx="2377440" cy="9144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594359" y="1737361"/>
            <a:ext cx="27432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594359" y="2057400"/>
            <a:ext cx="2103123" cy="332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LLM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594359" y="2514600"/>
            <a:ext cx="2103123" cy="819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LLMs can now read, understand, and respond to wholesale emails and negotiations with human-level comprehension.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108959" y="1554478"/>
            <a:ext cx="2377443" cy="2560323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108959" y="1554480"/>
            <a:ext cx="2377443" cy="9144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246118" y="1737361"/>
            <a:ext cx="274323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3246118" y="2057400"/>
            <a:ext cx="2103123" cy="332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ERP API Access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3246118" y="2514600"/>
            <a:ext cx="2103123" cy="1010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Modern ERPs expose APIs. Agents can query inventory, check margins, and create orders programmatically — in real time.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760720" y="1554478"/>
            <a:ext cx="2377442" cy="2560323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760720" y="1554480"/>
            <a:ext cx="2377442" cy="9144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897879" y="1737361"/>
            <a:ext cx="27432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5897879" y="2057400"/>
            <a:ext cx="2103122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Email &amp; Inbox Control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5897879" y="2514600"/>
            <a:ext cx="2103122" cy="1010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can now live natively inside email and WhatsApp — where wholesale selling already happens. No workflow change required.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594360" y="4297680"/>
            <a:ext cx="7680960" cy="43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the first time, distributors can automate quoting, inventory matching, follow-ups, and buyer re-engagement — without replacing ERP or retraining teams.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02918" y="228600"/>
            <a:ext cx="8138164" cy="408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Wholesale Distribution: The Perfect Beachhead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502918" y="731520"/>
            <a:ext cx="4480564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most 'agent-ready' industry in B2B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57198" y="1371599"/>
            <a:ext cx="137163" cy="1371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777238" y="1325881"/>
            <a:ext cx="3383283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 Transaction Frequency — Hundreds of orders per day, per customer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57198" y="1828799"/>
            <a:ext cx="137163" cy="1371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777238" y="1783079"/>
            <a:ext cx="3383283" cy="43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Email-Driven Ordering — Sales motion already happens in the inbox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57198" y="2285999"/>
            <a:ext cx="137163" cy="1371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77238" y="2240279"/>
            <a:ext cx="3383283" cy="43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Dynamic Pricing — Margin optimization requires real-time intelligence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57198" y="2743199"/>
            <a:ext cx="137163" cy="1371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777238" y="2697479"/>
            <a:ext cx="3383283" cy="43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Massive Manual Overhead — Reps spend 60%+ of time on admin, not selling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57198" y="3200399"/>
            <a:ext cx="137163" cy="1371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777238" y="3154679"/>
            <a:ext cx="3383283" cy="43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ERP-Dependent — Data exists; agents just need to act on it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846320" y="1188719"/>
            <a:ext cx="3840482" cy="3474723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074918" y="1371600"/>
            <a:ext cx="3383282" cy="225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current state: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5074918" y="1737361"/>
            <a:ext cx="3383282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Sales reps manually send offers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074918" y="2057400"/>
            <a:ext cx="3383282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Pricing lives in spreadsheets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5074918" y="2377439"/>
            <a:ext cx="3383282" cy="258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Reorders depend on rep memory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5074918" y="2697479"/>
            <a:ext cx="3383282" cy="258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Trade show leads die in inboxes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5074918" y="3017521"/>
            <a:ext cx="3383282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ERP records, but never decides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5074918" y="4114799"/>
            <a:ext cx="3383282" cy="258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Agents create immediate ROI here.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594359" y="274321"/>
            <a:ext cx="3566162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594360" y="594360"/>
            <a:ext cx="7680960" cy="472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Opsa: The Agentic Commerce Layer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594360" y="1143000"/>
            <a:ext cx="7680960" cy="373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Georgia"/>
              <a:buNone/>
            </a:pPr>
            <a:r>
              <a:rPr b="1" i="1" lang="en-US" sz="2000" u="none" cap="none" strike="noStrik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Signal  →  Decide  →  Act  →  Learn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1920238"/>
            <a:ext cx="1828800" cy="219456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1920238"/>
            <a:ext cx="1828800" cy="7315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94359" y="2103121"/>
            <a:ext cx="232876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594358" y="2377439"/>
            <a:ext cx="1554484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SIGNAL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Detect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594358" y="2926079"/>
            <a:ext cx="1554484" cy="39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Email &amp; WhatsApp signals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594358" y="3200400"/>
            <a:ext cx="1554484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ERP inventory data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594358" y="3474721"/>
            <a:ext cx="1554484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Trade show leads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2606039" y="1920238"/>
            <a:ext cx="1828801" cy="219456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606039" y="1920238"/>
            <a:ext cx="1828801" cy="7315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743199" y="2103121"/>
            <a:ext cx="232875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2743199" y="2377439"/>
            <a:ext cx="1554482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DECIDE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Rank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2743199" y="2926079"/>
            <a:ext cx="1554482" cy="225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Best offers by margin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2743199" y="3200400"/>
            <a:ext cx="155448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Buyer purchase history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2743199" y="3474721"/>
            <a:ext cx="155448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Price sensitivity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4879" y="1920238"/>
            <a:ext cx="1828802" cy="219456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4879" y="1920238"/>
            <a:ext cx="1828802" cy="7315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892040" y="2103121"/>
            <a:ext cx="232875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892040" y="2377439"/>
            <a:ext cx="1554482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Execute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4892040" y="2926079"/>
            <a:ext cx="1554482" cy="39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Send personalized pricing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4892040" y="3200400"/>
            <a:ext cx="1554482" cy="390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Negotiate within guardrails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4892040" y="3474721"/>
            <a:ext cx="155448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Create sales orders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903718" y="1920238"/>
            <a:ext cx="1828802" cy="219456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903718" y="1920238"/>
            <a:ext cx="1828802" cy="7315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7040878" y="2103121"/>
            <a:ext cx="232876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7040878" y="2377439"/>
            <a:ext cx="1554482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LEARN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Improve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7040878" y="2926079"/>
            <a:ext cx="1554482" cy="39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Learn from every outcome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7040878" y="3200400"/>
            <a:ext cx="155448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Sharpen buyer profiles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7040878" y="3474721"/>
            <a:ext cx="155448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Compound intelligence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02919" y="228599"/>
            <a:ext cx="8138162" cy="497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Three Orchestration Modes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502919" y="777240"/>
            <a:ext cx="8138162" cy="258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From fully autonomous to human-guided — Opsa adapts to every deal type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65759" y="1371599"/>
            <a:ext cx="8412482" cy="10515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65759" y="1371599"/>
            <a:ext cx="54865" cy="105156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640079" y="1508760"/>
            <a:ext cx="2194561" cy="281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Inbound Autonomy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640079" y="1874518"/>
            <a:ext cx="1280161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Repeat orders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3063240" y="1481327"/>
            <a:ext cx="4297681" cy="629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Returning customer emails to reorder. Opsa recognizes the buyer, checks inventory, quotes, and processes — fully automatically. No human needed.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52359" y="1691639"/>
            <a:ext cx="1143001" cy="320041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498079" y="1709927"/>
            <a:ext cx="10515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FULL AUTO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65759" y="2606038"/>
            <a:ext cx="8412482" cy="10515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65759" y="2606038"/>
            <a:ext cx="54865" cy="105156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40079" y="2743199"/>
            <a:ext cx="2194561" cy="281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Autonomous Full Cycle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640079" y="3108959"/>
            <a:ext cx="1280161" cy="22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Known buyers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3063240" y="2715767"/>
            <a:ext cx="4297681" cy="629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Sales Agent engages a familiar buyer, negotiates within pre-set margin and discount limits, and completes the deal without human involvement.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452359" y="2926078"/>
            <a:ext cx="1143001" cy="320041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7498079" y="2944367"/>
            <a:ext cx="10515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AI-LED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65759" y="3840479"/>
            <a:ext cx="8412482" cy="10515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59" y="3840479"/>
            <a:ext cx="54865" cy="105156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0079" y="3977638"/>
            <a:ext cx="2194561" cy="47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Supervised Orchestration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640079" y="4343398"/>
            <a:ext cx="1280161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New / high-value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3063240" y="3950206"/>
            <a:ext cx="4297681" cy="438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New buyer or high-value order triggers manager approval before AI completes. Opsa prepares the deal; a human greenlights it.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452359" y="4160518"/>
            <a:ext cx="1143001" cy="320041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7498079" y="4178806"/>
            <a:ext cx="10515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HUMAN-IN-LOOP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502919" y="4663440"/>
            <a:ext cx="8138162" cy="22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Additional modes available: Assisted Sales (rep-controlled) and Exception Handling (edge cases). Opsa covers the full spectrum.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594359" y="274321"/>
            <a:ext cx="3566162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594360" y="594360"/>
            <a:ext cx="7680960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Early Signals Are Strong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11480" y="1463039"/>
            <a:ext cx="1920240" cy="228600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11480" y="1463039"/>
            <a:ext cx="54866" cy="228600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566926" y="1691640"/>
            <a:ext cx="1520983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Georgia"/>
                <a:ea typeface="Georgia"/>
                <a:cs typeface="Georgia"/>
                <a:sym typeface="Georgia"/>
              </a:rPr>
              <a:t>$200K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566927" y="2359151"/>
            <a:ext cx="1645923" cy="225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Annual Recurring Revenue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566927" y="2788921"/>
            <a:ext cx="1645923" cy="444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paying design partners;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More onboarding and pilots;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514600" y="1463039"/>
            <a:ext cx="1920240" cy="228600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514600" y="1463039"/>
            <a:ext cx="54864" cy="228600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2670046" y="1691640"/>
            <a:ext cx="1393586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$125K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2670046" y="2359151"/>
            <a:ext cx="1645923" cy="39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Incremental Monthly Revenue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2670046" y="2788921"/>
            <a:ext cx="1645923" cy="393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design partner, 90-day avg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617720" y="1463039"/>
            <a:ext cx="1920241" cy="228600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617720" y="1463039"/>
            <a:ext cx="54866" cy="228600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773167" y="1691640"/>
            <a:ext cx="1009807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60%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4773167" y="2359151"/>
            <a:ext cx="1645922" cy="225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Lead Re-engagement Rate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4773167" y="2788921"/>
            <a:ext cx="1645922" cy="393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Dormant buyers reactivated in 3 months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720840" y="1463039"/>
            <a:ext cx="1920241" cy="228600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720840" y="1463039"/>
            <a:ext cx="54866" cy="228600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6876288" y="1691640"/>
            <a:ext cx="938767" cy="54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40+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6876288" y="2359151"/>
            <a:ext cx="1645922" cy="225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Orders Closed in 90 Days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6876288" y="2788921"/>
            <a:ext cx="1645922" cy="228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customer alone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594360" y="4389121"/>
            <a:ext cx="8138160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paying design partners. 3 new pilot customers currently onboarding, not yet in ARR.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502918" y="228600"/>
            <a:ext cx="8138164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 Large, Underserved Market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365759" y="914399"/>
            <a:ext cx="2651762" cy="31089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65758" y="914399"/>
            <a:ext cx="54866" cy="31089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548639" y="1051561"/>
            <a:ext cx="2286001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548639" y="1371600"/>
            <a:ext cx="1711706" cy="612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$10.5B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548639" y="2148840"/>
            <a:ext cx="2286001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U.S. Wholesale Distribution Software Market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548639" y="2560321"/>
            <a:ext cx="2286001" cy="55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Growing at 8.5% CAGR to $20.7B by 2033. 92% of distributors already run ERP — the buyer and budget exist.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291840" y="914399"/>
            <a:ext cx="2651762" cy="31089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291840" y="914399"/>
            <a:ext cx="54866" cy="31089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474720" y="1051561"/>
            <a:ext cx="2286001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3474718" y="1371600"/>
            <a:ext cx="1403632" cy="612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$2.1B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3474720" y="2148840"/>
            <a:ext cx="2286001" cy="438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Mid-Market U.S. Distributors ($10M–$500M)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3474720" y="2560321"/>
            <a:ext cx="2286001" cy="55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50,000 companies × $42K ACV. Enough volume for agents, without enterprise IT friction.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217920" y="914399"/>
            <a:ext cx="2651762" cy="31089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217920" y="914399"/>
            <a:ext cx="54866" cy="3108963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6400798" y="1051561"/>
            <a:ext cx="2286002" cy="2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SOM  ·  Year 3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6400798" y="1371600"/>
            <a:ext cx="1375280" cy="612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$21M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6400798" y="2148839"/>
            <a:ext cx="2286002" cy="24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ARR Target: 500 Customers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6400798" y="2560321"/>
            <a:ext cx="2286002" cy="55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&lt;1% SAM penetration. Food &amp; beverage, industrial, specialty goods. Expand upmarket from there.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502918" y="4160521"/>
            <a:ext cx="8138164" cy="248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Expansion: Mid-market wholesale  →  Manufacturers  →  Enterprise distributors  →  B2B marketplaces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502918" y="228600"/>
            <a:ext cx="8138164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 Gap No One Owns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502918" y="777241"/>
            <a:ext cx="8138164" cy="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Opsa is the only ERP-native, wholesale-specific, agentic commerce engine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65758" y="1188719"/>
            <a:ext cx="1371603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457198" y="1295322"/>
            <a:ext cx="1188723" cy="225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Competitor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1737360" y="1188719"/>
            <a:ext cx="1280162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828799" y="1295322"/>
            <a:ext cx="1097281" cy="225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017520" y="1188719"/>
            <a:ext cx="1097282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3108957" y="1295322"/>
            <a:ext cx="914401" cy="225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ERP-Native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114800" y="1188719"/>
            <a:ext cx="1188720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4206240" y="1212772"/>
            <a:ext cx="1005842" cy="390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Wholesale Domain</a:t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303520" y="1188719"/>
            <a:ext cx="1188722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5394959" y="1212772"/>
            <a:ext cx="1005842" cy="390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Commerce Execution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492240" y="1188719"/>
            <a:ext cx="1005840" cy="438914"/>
          </a:xfrm>
          <a:prstGeom prst="rect">
            <a:avLst/>
          </a:prstGeom>
          <a:solidFill>
            <a:srgbClr val="0B1123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6583678" y="1295322"/>
            <a:ext cx="822962" cy="225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65758" y="1627632"/>
            <a:ext cx="1371603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457198" y="1732833"/>
            <a:ext cx="1188723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Artisan AI / 11x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737360" y="1627632"/>
            <a:ext cx="128016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1828799" y="1732833"/>
            <a:ext cx="1097281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SDR Agent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017520" y="1627632"/>
            <a:ext cx="109728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3108957" y="1737867"/>
            <a:ext cx="914401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4114800" y="1627632"/>
            <a:ext cx="1188720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4206240" y="1737867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303520" y="1627632"/>
            <a:ext cx="118872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5394959" y="1737867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492240" y="1627632"/>
            <a:ext cx="1005840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6583678" y="1725167"/>
            <a:ext cx="822962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65758" y="2066543"/>
            <a:ext cx="1371603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457198" y="2171744"/>
            <a:ext cx="1188723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Apollo.io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737360" y="2066543"/>
            <a:ext cx="128016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1828799" y="2171744"/>
            <a:ext cx="1097281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Sales Intelligence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017520" y="2066543"/>
            <a:ext cx="109728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3108957" y="2176778"/>
            <a:ext cx="914401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114800" y="2066543"/>
            <a:ext cx="1188720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4206240" y="2176778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5303520" y="2066543"/>
            <a:ext cx="118872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5394959" y="2176778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6492240" y="2066543"/>
            <a:ext cx="1005840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6583678" y="2171744"/>
            <a:ext cx="822962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365758" y="2505456"/>
            <a:ext cx="1371603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457198" y="2610656"/>
            <a:ext cx="1188723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Prokeep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1737360" y="2505456"/>
            <a:ext cx="128016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1828799" y="2528106"/>
            <a:ext cx="1097281" cy="393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Wholesale CRM/Messaging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017520" y="2505456"/>
            <a:ext cx="109728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3108957" y="2610656"/>
            <a:ext cx="914401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114800" y="2505456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4206240" y="2602993"/>
            <a:ext cx="1005842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303520" y="2505456"/>
            <a:ext cx="118872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5394959" y="2615693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6492240" y="2505456"/>
            <a:ext cx="10058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6583678" y="2615693"/>
            <a:ext cx="82296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65758" y="2944366"/>
            <a:ext cx="1371603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457198" y="2967017"/>
            <a:ext cx="1188723" cy="393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Salesforce Agentforce</a:t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737360" y="2944366"/>
            <a:ext cx="128016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1828799" y="2967017"/>
            <a:ext cx="1097281" cy="393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Enterprise CRM + AI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3017520" y="2944366"/>
            <a:ext cx="109728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3108957" y="3049567"/>
            <a:ext cx="914401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114800" y="2944366"/>
            <a:ext cx="1188720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4206240" y="3054604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303520" y="2944366"/>
            <a:ext cx="1188722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5394959" y="3049567"/>
            <a:ext cx="1005842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6492240" y="2944366"/>
            <a:ext cx="1005840" cy="43891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6583678" y="3049567"/>
            <a:ext cx="822962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65758" y="3383279"/>
            <a:ext cx="1371603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457198" y="3488481"/>
            <a:ext cx="1188723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PROS Holdings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737360" y="3383279"/>
            <a:ext cx="128016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1828799" y="3405931"/>
            <a:ext cx="1097281" cy="393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B2B Pricing Optimization</a:t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017520" y="3383279"/>
            <a:ext cx="109728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3108957" y="3488481"/>
            <a:ext cx="914401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114800" y="3383279"/>
            <a:ext cx="1188720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4206240" y="3488481"/>
            <a:ext cx="1005842" cy="228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303520" y="3383279"/>
            <a:ext cx="1188722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5394959" y="3493516"/>
            <a:ext cx="100584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6492240" y="3383279"/>
            <a:ext cx="1005840" cy="4389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6583678" y="3493516"/>
            <a:ext cx="822962" cy="21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✗</a:t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365758" y="3822191"/>
            <a:ext cx="1371603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457198" y="3927391"/>
            <a:ext cx="1188723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Opsa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1737360" y="3822191"/>
            <a:ext cx="1280162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1828799" y="3927391"/>
            <a:ext cx="1097281" cy="22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Commerce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017520" y="3822191"/>
            <a:ext cx="1097282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3108957" y="3919726"/>
            <a:ext cx="914401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114800" y="3822191"/>
            <a:ext cx="1188720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4206240" y="3919726"/>
            <a:ext cx="1005842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5303520" y="3822191"/>
            <a:ext cx="1188722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5394959" y="3919726"/>
            <a:ext cx="1005842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6492240" y="3822191"/>
            <a:ext cx="1005840" cy="438914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6583678" y="3919726"/>
            <a:ext cx="822962" cy="24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3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/>
        </p:nvSpPr>
        <p:spPr>
          <a:xfrm>
            <a:off x="594360" y="228599"/>
            <a:ext cx="3566161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COMPETITIVE MOAT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594360" y="502919"/>
            <a:ext cx="7680961" cy="548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Vertical Expertise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594360" y="960119"/>
            <a:ext cx="7223761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Wholesale-specific intelligence that horizontal competitors can’t replicate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365759" y="1417319"/>
            <a:ext cx="4023361" cy="1234442"/>
          </a:xfrm>
          <a:prstGeom prst="rect">
            <a:avLst/>
          </a:prstGeom>
          <a:solidFill>
            <a:srgbClr val="1A2D5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65759" y="1417319"/>
            <a:ext cx="54865" cy="1234442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594360" y="1533764"/>
            <a:ext cx="22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598934" y="1764470"/>
            <a:ext cx="155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Deal Taxonomy &amp;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Engagement Intelligence</a:t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2331719" y="1673351"/>
            <a:ext cx="1874522" cy="72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Maps which deals need autonomy vs. human judgment. Optimizes engagement timing, channels, and patterns by pipeline stage.</a:t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4571999" y="1417319"/>
            <a:ext cx="4023361" cy="123444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572000" y="1417319"/>
            <a:ext cx="54864" cy="123444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4800599" y="1508760"/>
            <a:ext cx="228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4800599" y="1709927"/>
            <a:ext cx="1554481" cy="85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SKU-Level Margin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Optimization Engine</a:t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6537960" y="1508760"/>
            <a:ext cx="1874521" cy="723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Learns margin dynamics across SKU clusters from buyer behavior, channel patterns, and inventory velocity.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365759" y="2816351"/>
            <a:ext cx="4023361" cy="123444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65759" y="2816351"/>
            <a:ext cx="54865" cy="123444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594360" y="2907792"/>
            <a:ext cx="228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594359" y="3108960"/>
            <a:ext cx="1554482" cy="85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Multi-Channel Demand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Signal Aggregation</a:t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2331719" y="2907792"/>
            <a:ext cx="1874522" cy="723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Unifies fragmented signals from email, WhatsApp, POs, and trade shows into a prioritized demand graph.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571999" y="2816351"/>
            <a:ext cx="4023361" cy="123444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572000" y="2816351"/>
            <a:ext cx="54864" cy="123444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4800599" y="2907792"/>
            <a:ext cx="228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72" name="Google Shape;372;p11"/>
          <p:cNvSpPr txBox="1"/>
          <p:nvPr/>
        </p:nvSpPr>
        <p:spPr>
          <a:xfrm>
            <a:off x="4800599" y="3108960"/>
            <a:ext cx="1554481" cy="662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ERP-Embedded Agent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Learning Loop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6537960" y="2907792"/>
            <a:ext cx="1874521" cy="888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learn from fulfillment outcomes, inventory velocity, and margin realized. Every deployment compounds the moat.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365759" y="4114799"/>
            <a:ext cx="8412482" cy="3657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 txBox="1"/>
          <p:nvPr/>
        </p:nvSpPr>
        <p:spPr>
          <a:xfrm>
            <a:off x="411479" y="4206240"/>
            <a:ext cx="8321042" cy="390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 horizontal competitor cannot buy or shortcut their way into this depth — they would need years of domain data and workflow integrations to catch up.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/>
        </p:nvSpPr>
        <p:spPr>
          <a:xfrm>
            <a:off x="594360" y="274320"/>
            <a:ext cx="3566161" cy="22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COMPETITIVE MOAT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594360" y="594359"/>
            <a:ext cx="76809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Data Flywheel</a:t>
            </a:r>
            <a:endParaRPr/>
          </a:p>
        </p:txBody>
      </p:sp>
      <p:pic>
        <p:nvPicPr>
          <p:cNvPr descr="Picture 3" id="382" name="Google Shape;3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4639" y="1325880"/>
            <a:ext cx="34747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2"/>
          <p:cNvSpPr txBox="1"/>
          <p:nvPr/>
        </p:nvSpPr>
        <p:spPr>
          <a:xfrm>
            <a:off x="411479" y="1828799"/>
            <a:ext cx="2194561" cy="59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Each turn compounds: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More data → better offers → more wins → more customers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6629400" y="1828799"/>
            <a:ext cx="2194561" cy="59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Late entrants can't replicate: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Years of transaction data and buyer intelligence across the platform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594360" y="4754879"/>
            <a:ext cx="8138161" cy="248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Each customer makes Opsa smarter for every customer. The moat widens with every deployment.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 txBox="1"/>
          <p:nvPr/>
        </p:nvSpPr>
        <p:spPr>
          <a:xfrm>
            <a:off x="502919" y="228599"/>
            <a:ext cx="8138162" cy="497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Simple, Scalable Pricing</a:t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502919" y="777240"/>
            <a:ext cx="8138162" cy="258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Platform fee + usage expansion. ACV $24K–$120K+.</a:t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365759" y="1188719"/>
            <a:ext cx="2651762" cy="30175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365759" y="1188719"/>
            <a:ext cx="54865" cy="301752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548639" y="1371599"/>
            <a:ext cx="2286001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STARTER</a:t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548639" y="1581911"/>
            <a:ext cx="1325462" cy="47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$2,000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548639" y="1984248"/>
            <a:ext cx="3651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/mo</a:t>
            </a:r>
            <a:endParaRPr/>
          </a:p>
        </p:txBody>
      </p:sp>
      <p:sp>
        <p:nvSpPr>
          <p:cNvPr id="398" name="Google Shape;398;p13"/>
          <p:cNvSpPr txBox="1"/>
          <p:nvPr/>
        </p:nvSpPr>
        <p:spPr>
          <a:xfrm>
            <a:off x="548639" y="219456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$24K ACV</a:t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02920" y="2441448"/>
            <a:ext cx="2377440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548639" y="2532888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Up to 500 orders/mo</a:t>
            </a:r>
            <a:endParaRPr/>
          </a:p>
        </p:txBody>
      </p:sp>
      <p:sp>
        <p:nvSpPr>
          <p:cNvPr id="401" name="Google Shape;401;p13"/>
          <p:cNvSpPr txBox="1"/>
          <p:nvPr/>
        </p:nvSpPr>
        <p:spPr>
          <a:xfrm>
            <a:off x="548639" y="278892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1 ERP integration</a:t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548639" y="3044951"/>
            <a:ext cx="2286001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$5 per order above cap</a:t>
            </a:r>
            <a:endParaRPr/>
          </a:p>
        </p:txBody>
      </p:sp>
      <p:sp>
        <p:nvSpPr>
          <p:cNvPr id="403" name="Google Shape;403;p13"/>
          <p:cNvSpPr txBox="1"/>
          <p:nvPr/>
        </p:nvSpPr>
        <p:spPr>
          <a:xfrm>
            <a:off x="548639" y="3300984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Best for: First deployment</a:t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3291840" y="1188719"/>
            <a:ext cx="2651761" cy="30175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3291840" y="1188719"/>
            <a:ext cx="54865" cy="301752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291840" y="1142999"/>
            <a:ext cx="2651761" cy="13716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3428999" y="1161288"/>
            <a:ext cx="2377441" cy="2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POPULAR</a:t>
            </a:r>
            <a:endParaRPr/>
          </a:p>
        </p:txBody>
      </p:sp>
      <p:sp>
        <p:nvSpPr>
          <p:cNvPr id="408" name="Google Shape;408;p13"/>
          <p:cNvSpPr txBox="1"/>
          <p:nvPr/>
        </p:nvSpPr>
        <p:spPr>
          <a:xfrm>
            <a:off x="3474720" y="1371599"/>
            <a:ext cx="2286000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/>
          </a:p>
        </p:txBody>
      </p:sp>
      <p:sp>
        <p:nvSpPr>
          <p:cNvPr id="409" name="Google Shape;409;p13"/>
          <p:cNvSpPr txBox="1"/>
          <p:nvPr/>
        </p:nvSpPr>
        <p:spPr>
          <a:xfrm>
            <a:off x="3474720" y="1581911"/>
            <a:ext cx="1316432" cy="47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$5,000</a:t>
            </a:r>
            <a:endParaRPr/>
          </a:p>
        </p:txBody>
      </p:sp>
      <p:sp>
        <p:nvSpPr>
          <p:cNvPr id="410" name="Google Shape;410;p13"/>
          <p:cNvSpPr txBox="1"/>
          <p:nvPr/>
        </p:nvSpPr>
        <p:spPr>
          <a:xfrm>
            <a:off x="3474719" y="1984248"/>
            <a:ext cx="3651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/mo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3474720" y="2194560"/>
            <a:ext cx="2286000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$60K ACV</a:t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3429000" y="2441448"/>
            <a:ext cx="2377440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3474720" y="2532888"/>
            <a:ext cx="2286000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Up to 2,000 orders/mo</a:t>
            </a: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3474720" y="2788920"/>
            <a:ext cx="2286000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2 ERP integrations + analytics</a:t>
            </a:r>
            <a:endParaRPr/>
          </a:p>
        </p:txBody>
      </p:sp>
      <p:sp>
        <p:nvSpPr>
          <p:cNvPr id="415" name="Google Shape;415;p13"/>
          <p:cNvSpPr txBox="1"/>
          <p:nvPr/>
        </p:nvSpPr>
        <p:spPr>
          <a:xfrm>
            <a:off x="3474720" y="3044951"/>
            <a:ext cx="2286000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$3 per order above cap</a:t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3474720" y="3300984"/>
            <a:ext cx="2286000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Best for: Scaling teams</a:t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217920" y="1188719"/>
            <a:ext cx="2651761" cy="30175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6217920" y="1188719"/>
            <a:ext cx="54865" cy="301752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6400799" y="1371599"/>
            <a:ext cx="2286001" cy="22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420" name="Google Shape;420;p13"/>
          <p:cNvSpPr txBox="1"/>
          <p:nvPr/>
        </p:nvSpPr>
        <p:spPr>
          <a:xfrm>
            <a:off x="6400799" y="1581911"/>
            <a:ext cx="1744017" cy="47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$10,000+</a:t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6400799" y="1984248"/>
            <a:ext cx="3651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/mo</a:t>
            </a:r>
            <a:endParaRPr/>
          </a:p>
        </p:txBody>
      </p:sp>
      <p:sp>
        <p:nvSpPr>
          <p:cNvPr id="422" name="Google Shape;422;p13"/>
          <p:cNvSpPr txBox="1"/>
          <p:nvPr/>
        </p:nvSpPr>
        <p:spPr>
          <a:xfrm>
            <a:off x="6400799" y="219456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$120K+ ACV</a:t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355079" y="2441448"/>
            <a:ext cx="2377441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6400799" y="2532888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Unlimited orders</a:t>
            </a:r>
            <a:endParaRPr/>
          </a:p>
        </p:txBody>
      </p:sp>
      <p:sp>
        <p:nvSpPr>
          <p:cNvPr id="425" name="Google Shape;425;p13"/>
          <p:cNvSpPr txBox="1"/>
          <p:nvPr/>
        </p:nvSpPr>
        <p:spPr>
          <a:xfrm>
            <a:off x="6400799" y="278892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Dedicated CS + custom workflows</a:t>
            </a:r>
            <a:endParaRPr/>
          </a:p>
        </p:txBody>
      </p:sp>
      <p:sp>
        <p:nvSpPr>
          <p:cNvPr id="426" name="Google Shape;426;p13"/>
          <p:cNvSpPr txBox="1"/>
          <p:nvPr/>
        </p:nvSpPr>
        <p:spPr>
          <a:xfrm>
            <a:off x="6400799" y="3044951"/>
            <a:ext cx="2286001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Multi-ERP support</a:t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6400799" y="3300984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Best for: Enterprise rollout</a:t>
            </a:r>
            <a:endParaRPr/>
          </a:p>
        </p:txBody>
      </p:sp>
      <p:sp>
        <p:nvSpPr>
          <p:cNvPr id="428" name="Google Shape;428;p13"/>
          <p:cNvSpPr txBox="1"/>
          <p:nvPr/>
        </p:nvSpPr>
        <p:spPr>
          <a:xfrm>
            <a:off x="502919" y="4343400"/>
            <a:ext cx="8138162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Usage overages ($3–$5/order above cap) create natural land-and-expand dynamics.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502919" y="182879"/>
            <a:ext cx="8138162" cy="497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Built by the Right Team</a:t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502919" y="685799"/>
            <a:ext cx="8138162" cy="438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Instacart and LinkedIn veterans who spent careers building exactly what Opsa automates — at scale, in production, for real commerce.</a:t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365759" y="1188719"/>
            <a:ext cx="2651762" cy="35661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65759" y="1188719"/>
            <a:ext cx="54865" cy="356616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548639" y="1325880"/>
            <a:ext cx="2286001" cy="300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Ashish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548639" y="160020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Co-founder &amp; CEO</a:t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02920" y="1847088"/>
            <a:ext cx="2377440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548639" y="1938527"/>
            <a:ext cx="2286001" cy="121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10+ years building large-scale commerce systems. Led fulfillment engineering at Instacart, scaling infrastructure for millions of orders. Previously founded a B2B commerce company and grew up in wholesale distribution.</a:t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502919" y="3428999"/>
            <a:ext cx="1097281" cy="20117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774945" y="3415328"/>
            <a:ext cx="553229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Instacart</a:t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502919" y="3675886"/>
            <a:ext cx="1097281" cy="201169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 txBox="1"/>
          <p:nvPr/>
        </p:nvSpPr>
        <p:spPr>
          <a:xfrm>
            <a:off x="603823" y="3662216"/>
            <a:ext cx="895473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B2B Commerce</a:t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3291840" y="1188719"/>
            <a:ext cx="2651761" cy="35661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291840" y="1188719"/>
            <a:ext cx="54865" cy="356616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3474720" y="1325880"/>
            <a:ext cx="2286000" cy="300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Collin</a:t>
            </a:r>
            <a:endParaRPr/>
          </a:p>
        </p:txBody>
      </p:sp>
      <p:sp>
        <p:nvSpPr>
          <p:cNvPr id="449" name="Google Shape;449;p14"/>
          <p:cNvSpPr txBox="1"/>
          <p:nvPr/>
        </p:nvSpPr>
        <p:spPr>
          <a:xfrm>
            <a:off x="3474720" y="1600200"/>
            <a:ext cx="2286000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Co-founder, Engineering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3429000" y="1847088"/>
            <a:ext cx="2377440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3474720" y="1938527"/>
            <a:ext cx="2286000" cy="1051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years engineering leadership at LinkedIn and Instacart. Led a 60-person org owning Instacart's shopper fulfillment platform — shipping AI/ML systems for picking intelligence and order execution.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3428999" y="3428999"/>
            <a:ext cx="1097282" cy="20117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 txBox="1"/>
          <p:nvPr/>
        </p:nvSpPr>
        <p:spPr>
          <a:xfrm>
            <a:off x="3701025" y="3415328"/>
            <a:ext cx="553230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Instacart</a:t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3428999" y="3675886"/>
            <a:ext cx="1097282" cy="201169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3709799" y="3662216"/>
            <a:ext cx="535681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6217920" y="1188719"/>
            <a:ext cx="2651761" cy="35661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6217920" y="1188719"/>
            <a:ext cx="54865" cy="3566161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6400799" y="1325880"/>
            <a:ext cx="2286001" cy="300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Chencheng</a:t>
            </a:r>
            <a:endParaRPr/>
          </a:p>
        </p:txBody>
      </p:sp>
      <p:sp>
        <p:nvSpPr>
          <p:cNvPr id="459" name="Google Shape;459;p14"/>
          <p:cNvSpPr txBox="1"/>
          <p:nvPr/>
        </p:nvSpPr>
        <p:spPr>
          <a:xfrm>
            <a:off x="6400799" y="1600200"/>
            <a:ext cx="228600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Founding Team Member</a:t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6355079" y="1847088"/>
            <a:ext cx="2377441" cy="18289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6400799" y="1938527"/>
            <a:ext cx="2286001" cy="55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Built LinkedIn's B2B sales platform from zero to a billion-dollar business; led growth engineering at Instacart.</a:t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6355079" y="3428999"/>
            <a:ext cx="1097281" cy="20117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6635879" y="3415328"/>
            <a:ext cx="535681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355079" y="3675886"/>
            <a:ext cx="1097281" cy="201169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 txBox="1"/>
          <p:nvPr/>
        </p:nvSpPr>
        <p:spPr>
          <a:xfrm>
            <a:off x="6627105" y="3662216"/>
            <a:ext cx="553229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Instacart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3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 txBox="1"/>
          <p:nvPr/>
        </p:nvSpPr>
        <p:spPr>
          <a:xfrm>
            <a:off x="594360" y="274320"/>
            <a:ext cx="3566161" cy="22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/>
          </a:p>
        </p:txBody>
      </p:sp>
      <p:sp>
        <p:nvSpPr>
          <p:cNvPr id="472" name="Google Shape;472;p15"/>
          <p:cNvSpPr txBox="1"/>
          <p:nvPr/>
        </p:nvSpPr>
        <p:spPr>
          <a:xfrm>
            <a:off x="594360" y="594359"/>
            <a:ext cx="7680961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Raising Our Seed Round</a:t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502919" y="1417319"/>
            <a:ext cx="1713718" cy="891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38BDF8"/>
                </a:solidFill>
                <a:latin typeface="Georgia"/>
                <a:ea typeface="Georgia"/>
                <a:cs typeface="Georgia"/>
                <a:sym typeface="Georgia"/>
              </a:rPr>
              <a:t>$5M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502919" y="2240279"/>
            <a:ext cx="4023362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Seed Round</a:t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457200" y="2331720"/>
            <a:ext cx="2286000" cy="36577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 txBox="1"/>
          <p:nvPr/>
        </p:nvSpPr>
        <p:spPr>
          <a:xfrm>
            <a:off x="502919" y="2468879"/>
            <a:ext cx="4023362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18-month target: $6M ARR | 150 paying customers.</a:t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502919" y="2880360"/>
            <a:ext cx="4023362" cy="43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are partnering with a small group of high-conviction investors.</a:t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4846320" y="1417319"/>
            <a:ext cx="3840481" cy="2926082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846320" y="1417319"/>
            <a:ext cx="54865" cy="292608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 txBox="1"/>
          <p:nvPr/>
        </p:nvSpPr>
        <p:spPr>
          <a:xfrm>
            <a:off x="5074919" y="1554480"/>
            <a:ext cx="3474721" cy="258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of Funds</a:t>
            </a:r>
            <a:endParaRPr/>
          </a:p>
        </p:txBody>
      </p:sp>
      <p:sp>
        <p:nvSpPr>
          <p:cNvPr id="481" name="Google Shape;481;p15"/>
          <p:cNvSpPr txBox="1"/>
          <p:nvPr/>
        </p:nvSpPr>
        <p:spPr>
          <a:xfrm>
            <a:off x="5074919" y="1965960"/>
            <a:ext cx="3474721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&amp; Product  |  50%</a:t>
            </a:r>
            <a:endParaRPr/>
          </a:p>
        </p:txBody>
      </p:sp>
      <p:sp>
        <p:nvSpPr>
          <p:cNvPr id="482" name="Google Shape;482;p15"/>
          <p:cNvSpPr txBox="1"/>
          <p:nvPr/>
        </p:nvSpPr>
        <p:spPr>
          <a:xfrm>
            <a:off x="5074919" y="2167127"/>
            <a:ext cx="3474721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engineers, ERP integrations, model fine-tuning</a:t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5074919" y="2496311"/>
            <a:ext cx="3474721" cy="248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&amp; GTM  |  30%</a:t>
            </a:r>
            <a:endParaRPr/>
          </a:p>
        </p:txBody>
      </p:sp>
      <p:sp>
        <p:nvSpPr>
          <p:cNvPr id="484" name="Google Shape;484;p15"/>
          <p:cNvSpPr txBox="1"/>
          <p:nvPr/>
        </p:nvSpPr>
        <p:spPr>
          <a:xfrm>
            <a:off x="5074919" y="2697479"/>
            <a:ext cx="3474721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sales hire, CS, pilots → paid conversion</a:t>
            </a:r>
            <a:endParaRPr/>
          </a:p>
        </p:txBody>
      </p:sp>
      <p:sp>
        <p:nvSpPr>
          <p:cNvPr id="485" name="Google Shape;485;p15"/>
          <p:cNvSpPr txBox="1"/>
          <p:nvPr/>
        </p:nvSpPr>
        <p:spPr>
          <a:xfrm>
            <a:off x="5074919" y="3026664"/>
            <a:ext cx="3474721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  |  10%</a:t>
            </a:r>
            <a:endParaRPr/>
          </a:p>
        </p:txBody>
      </p:sp>
      <p:sp>
        <p:nvSpPr>
          <p:cNvPr id="486" name="Google Shape;486;p15"/>
          <p:cNvSpPr txBox="1"/>
          <p:nvPr/>
        </p:nvSpPr>
        <p:spPr>
          <a:xfrm>
            <a:off x="5074919" y="3227832"/>
            <a:ext cx="347472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Legal, finance, compliance, HR</a:t>
            </a:r>
            <a:endParaRPr/>
          </a:p>
        </p:txBody>
      </p:sp>
      <p:sp>
        <p:nvSpPr>
          <p:cNvPr id="487" name="Google Shape;487;p15"/>
          <p:cNvSpPr txBox="1"/>
          <p:nvPr/>
        </p:nvSpPr>
        <p:spPr>
          <a:xfrm>
            <a:off x="5074919" y="3557015"/>
            <a:ext cx="3474721" cy="248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Infrastructure  |  10%</a:t>
            </a:r>
            <a:endParaRPr/>
          </a:p>
        </p:txBody>
      </p:sp>
      <p:sp>
        <p:nvSpPr>
          <p:cNvPr id="488" name="Google Shape;488;p15"/>
          <p:cNvSpPr txBox="1"/>
          <p:nvPr/>
        </p:nvSpPr>
        <p:spPr>
          <a:xfrm>
            <a:off x="5074919" y="3758184"/>
            <a:ext cx="347472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 APIs, cloud hosting, data pipeline</a:t>
            </a:r>
            <a:endParaRPr/>
          </a:p>
        </p:txBody>
      </p:sp>
      <p:sp>
        <p:nvSpPr>
          <p:cNvPr id="489" name="Google Shape;489;p15"/>
          <p:cNvSpPr txBox="1"/>
          <p:nvPr/>
        </p:nvSpPr>
        <p:spPr>
          <a:xfrm>
            <a:off x="4892040" y="4434840"/>
            <a:ext cx="3749041" cy="2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opsa.ai  |  ashish@opsa.ai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